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15"/>
  </p:notesMasterIdLst>
  <p:sldIdLst>
    <p:sldId id="272" r:id="rId2"/>
    <p:sldId id="273" r:id="rId3"/>
    <p:sldId id="257" r:id="rId4"/>
    <p:sldId id="258" r:id="rId5"/>
    <p:sldId id="274" r:id="rId6"/>
    <p:sldId id="275" r:id="rId7"/>
    <p:sldId id="259" r:id="rId8"/>
    <p:sldId id="260" r:id="rId9"/>
    <p:sldId id="277" r:id="rId10"/>
    <p:sldId id="278" r:id="rId11"/>
    <p:sldId id="279" r:id="rId12"/>
    <p:sldId id="265"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0A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0" autoAdjust="0"/>
  </p:normalViewPr>
  <p:slideViewPr>
    <p:cSldViewPr snapToGrid="0">
      <p:cViewPr varScale="1">
        <p:scale>
          <a:sx n="75" d="100"/>
          <a:sy n="75" d="100"/>
        </p:scale>
        <p:origin x="82" y="1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F"/>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EB5EE-EC17-4A50-B81B-AAC3C7C0BA4A}" type="datetimeFigureOut">
              <a:rPr lang="fr-BF" smtClean="0"/>
              <a:t>26/06/2026</a:t>
            </a:fld>
            <a:endParaRPr lang="fr-BF"/>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F"/>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F"/>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F"/>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2ADCF-2182-4B58-8D74-464A19148EA3}" type="slidenum">
              <a:rPr lang="fr-BF" smtClean="0"/>
              <a:t>‹N°›</a:t>
            </a:fld>
            <a:endParaRPr lang="fr-BF"/>
          </a:p>
        </p:txBody>
      </p:sp>
    </p:spTree>
    <p:extLst>
      <p:ext uri="{BB962C8B-B14F-4D97-AF65-F5344CB8AC3E}">
        <p14:creationId xmlns:p14="http://schemas.microsoft.com/office/powerpoint/2010/main" val="2130207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F"/>
          </a:p>
        </p:txBody>
      </p:sp>
      <p:sp>
        <p:nvSpPr>
          <p:cNvPr id="4" name="Espace réservé du numéro de diapositive 3"/>
          <p:cNvSpPr>
            <a:spLocks noGrp="1"/>
          </p:cNvSpPr>
          <p:nvPr>
            <p:ph type="sldNum" sz="quarter" idx="5"/>
          </p:nvPr>
        </p:nvSpPr>
        <p:spPr/>
        <p:txBody>
          <a:bodyPr/>
          <a:lstStyle/>
          <a:p>
            <a:fld id="{58D2ADCF-2182-4B58-8D74-464A19148EA3}" type="slidenum">
              <a:rPr lang="fr-BF" smtClean="0"/>
              <a:t>3</a:t>
            </a:fld>
            <a:endParaRPr lang="fr-BF"/>
          </a:p>
        </p:txBody>
      </p:sp>
    </p:spTree>
    <p:extLst>
      <p:ext uri="{BB962C8B-B14F-4D97-AF65-F5344CB8AC3E}">
        <p14:creationId xmlns:p14="http://schemas.microsoft.com/office/powerpoint/2010/main" val="2752102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332741A-6A3C-43B2-AD0E-2800ABE95FBE}"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3373998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50A37CD-F240-4E31-B5BE-4C32DBA1DC46}"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34091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D4F35C9-EC08-4EB1-A329-646A7778C92D}"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26412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13CD019-E6D8-4792-BA10-5A16600E2E26}" type="datetime1">
              <a:rPr lang="fr-BF" smtClean="0"/>
              <a:t>26/06/2026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68481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49975C9-4986-4923-921E-FB7F17692ABF}" type="datetime1">
              <a:rPr lang="fr-BF" smtClean="0"/>
              <a:t>26/06/2026</a:t>
            </a:fld>
            <a:endParaRPr lang="fr-BF"/>
          </a:p>
        </p:txBody>
      </p:sp>
      <p:sp>
        <p:nvSpPr>
          <p:cNvPr id="8" name="Footer Placeholder 7"/>
          <p:cNvSpPr>
            <a:spLocks noGrp="1"/>
          </p:cNvSpPr>
          <p:nvPr>
            <p:ph type="ftr" sz="quarter" idx="11"/>
          </p:nvPr>
        </p:nvSpPr>
        <p:spPr/>
        <p:txBody>
          <a:bodyPr/>
          <a:lstStyle/>
          <a:p>
            <a:endParaRPr lang="fr-BF"/>
          </a:p>
        </p:txBody>
      </p:sp>
      <p:sp>
        <p:nvSpPr>
          <p:cNvPr id="9" name="Slide Number Placeholder 8"/>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354355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7" name="Date Placeholder 2"/>
          <p:cNvSpPr>
            <a:spLocks noGrp="1"/>
          </p:cNvSpPr>
          <p:nvPr>
            <p:ph type="dt" sz="half" idx="10"/>
          </p:nvPr>
        </p:nvSpPr>
        <p:spPr/>
        <p:txBody>
          <a:bodyPr/>
          <a:lstStyle/>
          <a:p>
            <a:fld id="{5306B835-405C-41EC-8703-AC568EE4AA61}" type="datetime1">
              <a:rPr lang="fr-BF" smtClean="0"/>
              <a:t>26/06/2026</a:t>
            </a:fld>
            <a:endParaRPr lang="fr-BF"/>
          </a:p>
        </p:txBody>
      </p:sp>
      <p:sp>
        <p:nvSpPr>
          <p:cNvPr id="5" name="Footer Placeholder 3"/>
          <p:cNvSpPr>
            <a:spLocks noGrp="1"/>
          </p:cNvSpPr>
          <p:nvPr>
            <p:ph type="ftr" sz="quarter" idx="11"/>
          </p:nvPr>
        </p:nvSpPr>
        <p:spPr/>
        <p:txBody>
          <a:bodyPr/>
          <a:lstStyle/>
          <a:p>
            <a:endParaRPr lang="fr-BF"/>
          </a:p>
        </p:txBody>
      </p:sp>
      <p:sp>
        <p:nvSpPr>
          <p:cNvPr id="6" name="Slide Number Placeholder 4"/>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222329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AC4371D-10E9-433F-97EF-3BC7F985E478}" type="datetime1">
              <a:rPr lang="fr-BF" smtClean="0"/>
              <a:t>26/06/2026</a:t>
            </a:fld>
            <a:endParaRPr lang="fr-BF"/>
          </a:p>
        </p:txBody>
      </p:sp>
      <p:sp>
        <p:nvSpPr>
          <p:cNvPr id="5" name="Footer Placeholder 2"/>
          <p:cNvSpPr>
            <a:spLocks noGrp="1"/>
          </p:cNvSpPr>
          <p:nvPr>
            <p:ph type="ftr" sz="quarter" idx="11"/>
          </p:nvPr>
        </p:nvSpPr>
        <p:spPr/>
        <p:txBody>
          <a:bodyPr/>
          <a:lstStyle/>
          <a:p>
            <a:endParaRPr lang="fr-BF"/>
          </a:p>
        </p:txBody>
      </p:sp>
      <p:sp>
        <p:nvSpPr>
          <p:cNvPr id="6" name="Slide Number Placeholder 3"/>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24477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7" name="Date Placeholder 4"/>
          <p:cNvSpPr>
            <a:spLocks noGrp="1"/>
          </p:cNvSpPr>
          <p:nvPr>
            <p:ph type="dt" sz="half" idx="10"/>
          </p:nvPr>
        </p:nvSpPr>
        <p:spPr/>
        <p:txBody>
          <a:bodyPr/>
          <a:lstStyle/>
          <a:p>
            <a:fld id="{93BA2BD6-A8A8-47AB-9C54-C3C9A5AB4DE8}" type="datetime1">
              <a:rPr lang="fr-BF" smtClean="0"/>
              <a:t>26/06/2026</a:t>
            </a:fld>
            <a:endParaRPr lang="fr-BF"/>
          </a:p>
        </p:txBody>
      </p:sp>
      <p:sp>
        <p:nvSpPr>
          <p:cNvPr id="5" name="Footer Placeholder 5"/>
          <p:cNvSpPr>
            <a:spLocks noGrp="1"/>
          </p:cNvSpPr>
          <p:nvPr>
            <p:ph type="ftr" sz="quarter" idx="11"/>
          </p:nvPr>
        </p:nvSpPr>
        <p:spPr/>
        <p:txBody>
          <a:bodyPr/>
          <a:lstStyle/>
          <a:p>
            <a:endParaRPr lang="fr-BF"/>
          </a:p>
        </p:txBody>
      </p:sp>
      <p:sp>
        <p:nvSpPr>
          <p:cNvPr id="6" name="Slide Number Placeholder 6"/>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995165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F50DDE8D-10CA-4DEA-98D9-2C82F36F320B}" type="datetime1">
              <a:rPr lang="fr-BF" smtClean="0"/>
              <a:t>26/06/2026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2988832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4D2E6CD-F748-4BAF-A792-2312D184C1CA}" type="datetime1">
              <a:rPr lang="fr-BF" smtClean="0"/>
              <a:t>26/06/2026</a:t>
            </a:fld>
            <a:endParaRPr lang="fr-BF"/>
          </a:p>
        </p:txBody>
      </p:sp>
      <p:sp>
        <p:nvSpPr>
          <p:cNvPr id="6" name="Footer Placeholder 5"/>
          <p:cNvSpPr>
            <a:spLocks noGrp="1"/>
          </p:cNvSpPr>
          <p:nvPr>
            <p:ph type="ftr" sz="quarter" idx="11"/>
          </p:nvPr>
        </p:nvSpPr>
        <p:spPr/>
        <p:txBody>
          <a:bodyPr/>
          <a:lstStyle/>
          <a:p>
            <a:endParaRPr lang="fr-BF"/>
          </a:p>
        </p:txBody>
      </p:sp>
      <p:sp>
        <p:nvSpPr>
          <p:cNvPr id="7" name="Slide Number Placeholder 6"/>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353908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fr-FR"/>
              <a:t>Modifiez le style du titre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6FE03E2A-2FE8-42B8-84FC-643D0DEDC026}"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2144559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fr-FR"/>
              <a:t>Modifiez le style du titre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334029E-6520-4C1A-9840-578832B355A6}"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86923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F6C6DFB-8BF9-4F0E-9605-F38B718A2905}"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608390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2CB0458-B6E2-4B61-80AA-8CD56E058E4A}" type="datetime1">
              <a:rPr lang="fr-BF" smtClean="0"/>
              <a:t>26/06/2026</a:t>
            </a:fld>
            <a:endParaRPr lang="fr-BF"/>
          </a:p>
        </p:txBody>
      </p:sp>
      <p:sp>
        <p:nvSpPr>
          <p:cNvPr id="4"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1335086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fr-FR"/>
              <a:t>Modifiez le style du titre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EAD7D35-3119-4123-8843-7471E68A2319}" type="datetime1">
              <a:rPr lang="fr-BF" smtClean="0"/>
              <a:t>26/06/2026</a:t>
            </a:fld>
            <a:endParaRPr lang="fr-BF"/>
          </a:p>
        </p:txBody>
      </p:sp>
      <p:sp>
        <p:nvSpPr>
          <p:cNvPr id="4"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3918917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3685FD7-F2A4-4959-A518-4ABA3C05F760}"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224625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A90D28B-AA4C-4A8D-805B-CEC8351D61C2}" type="datetime1">
              <a:rPr lang="fr-BF" smtClean="0"/>
              <a:t>26/06/2026</a:t>
            </a:fld>
            <a:endParaRPr lang="fr-BF"/>
          </a:p>
        </p:txBody>
      </p:sp>
      <p:sp>
        <p:nvSpPr>
          <p:cNvPr id="5" name="Footer Placeholder 4"/>
          <p:cNvSpPr>
            <a:spLocks noGrp="1"/>
          </p:cNvSpPr>
          <p:nvPr>
            <p:ph type="ftr" sz="quarter" idx="11"/>
          </p:nvPr>
        </p:nvSpPr>
        <p:spPr/>
        <p:txBody>
          <a:bodyPr/>
          <a:lstStyle/>
          <a:p>
            <a:endParaRPr lang="fr-BF"/>
          </a:p>
        </p:txBody>
      </p:sp>
      <p:sp>
        <p:nvSpPr>
          <p:cNvPr id="6" name="Slide Number Placeholder 5"/>
          <p:cNvSpPr>
            <a:spLocks noGrp="1"/>
          </p:cNvSpPr>
          <p:nvPr>
            <p:ph type="sldNum" sz="quarter" idx="12"/>
          </p:nvPr>
        </p:nvSpPr>
        <p:spPr/>
        <p:txBody>
          <a:bodyPr/>
          <a:lstStyle/>
          <a:p>
            <a:fld id="{10AFB43F-0EC2-4BCC-B446-0128A0EBB831}" type="slidenum">
              <a:rPr lang="fr-BF" smtClean="0"/>
              <a:t>‹N°›</a:t>
            </a:fld>
            <a:endParaRPr lang="fr-BF"/>
          </a:p>
        </p:txBody>
      </p:sp>
    </p:spTree>
    <p:extLst>
      <p:ext uri="{BB962C8B-B14F-4D97-AF65-F5344CB8AC3E}">
        <p14:creationId xmlns:p14="http://schemas.microsoft.com/office/powerpoint/2010/main" val="3941688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fr-FR"/>
              <a:t>Modifiez le style du titre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19F8D01-65BD-4A0F-AE53-5F4AF41774B2}" type="datetime1">
              <a:rPr lang="fr-BF" smtClean="0"/>
              <a:t>26/06/2026</a:t>
            </a:fld>
            <a:endParaRPr lang="fr-BF"/>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fr-BF"/>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0AFB43F-0EC2-4BCC-B446-0128A0EBB831}" type="slidenum">
              <a:rPr lang="fr-BF" smtClean="0"/>
              <a:t>‹N°›</a:t>
            </a:fld>
            <a:endParaRPr lang="fr-BF"/>
          </a:p>
        </p:txBody>
      </p:sp>
    </p:spTree>
    <p:extLst>
      <p:ext uri="{BB962C8B-B14F-4D97-AF65-F5344CB8AC3E}">
        <p14:creationId xmlns:p14="http://schemas.microsoft.com/office/powerpoint/2010/main" val="1715836628"/>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AD6710-F335-2021-51E4-ED3C705A6ECC}"/>
              </a:ext>
            </a:extLst>
          </p:cNvPr>
          <p:cNvSpPr>
            <a:spLocks noGrp="1"/>
          </p:cNvSpPr>
          <p:nvPr>
            <p:ph type="title"/>
          </p:nvPr>
        </p:nvSpPr>
        <p:spPr>
          <a:xfrm>
            <a:off x="2373311" y="295729"/>
            <a:ext cx="9404723" cy="2200274"/>
          </a:xfrm>
        </p:spPr>
        <p:txBody>
          <a:bodyPr/>
          <a:lstStyle/>
          <a:p>
            <a:r>
              <a:rPr lang="fr-FR" dirty="0">
                <a:latin typeface="Algerian" panose="04020705040A02060702" pitchFamily="82" charset="0"/>
              </a:rPr>
              <a:t>PROJET INTEGRATEUR L2 2026</a:t>
            </a:r>
            <a:br>
              <a:rPr lang="fr-FR" dirty="0">
                <a:latin typeface="Algerian" panose="04020705040A02060702" pitchFamily="82" charset="0"/>
              </a:rPr>
            </a:br>
            <a:br>
              <a:rPr lang="fr-FR" dirty="0">
                <a:latin typeface="Algerian" panose="04020705040A02060702" pitchFamily="82" charset="0"/>
              </a:rPr>
            </a:br>
            <a:endParaRPr lang="fr-BF" sz="3200" b="1" i="1" dirty="0">
              <a:latin typeface="Arial Black" panose="020B0A04020102020204" pitchFamily="34" charset="0"/>
            </a:endParaRPr>
          </a:p>
        </p:txBody>
      </p:sp>
      <p:sp>
        <p:nvSpPr>
          <p:cNvPr id="4" name="Espace réservé du numéro de diapositive 3">
            <a:extLst>
              <a:ext uri="{FF2B5EF4-FFF2-40B4-BE49-F238E27FC236}">
                <a16:creationId xmlns:a16="http://schemas.microsoft.com/office/drawing/2014/main" id="{0B703208-D6C8-0073-1DA7-0BF57204A49C}"/>
              </a:ext>
            </a:extLst>
          </p:cNvPr>
          <p:cNvSpPr>
            <a:spLocks noGrp="1"/>
          </p:cNvSpPr>
          <p:nvPr>
            <p:ph type="sldNum" sz="quarter" idx="12"/>
          </p:nvPr>
        </p:nvSpPr>
        <p:spPr/>
        <p:txBody>
          <a:bodyPr/>
          <a:lstStyle/>
          <a:p>
            <a:fld id="{10AFB43F-0EC2-4BCC-B446-0128A0EBB831}" type="slidenum">
              <a:rPr lang="fr-BF" smtClean="0"/>
              <a:t>1</a:t>
            </a:fld>
            <a:endParaRPr lang="fr-BF"/>
          </a:p>
        </p:txBody>
      </p:sp>
      <p:pic>
        <p:nvPicPr>
          <p:cNvPr id="6" name="Image 5">
            <a:extLst>
              <a:ext uri="{FF2B5EF4-FFF2-40B4-BE49-F238E27FC236}">
                <a16:creationId xmlns:a16="http://schemas.microsoft.com/office/drawing/2014/main" id="{02BC308B-88A2-BC8C-C75B-A5943B84CF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582"/>
            <a:ext cx="2076450" cy="2200275"/>
          </a:xfrm>
          <a:prstGeom prst="rect">
            <a:avLst/>
          </a:prstGeom>
        </p:spPr>
      </p:pic>
      <p:cxnSp>
        <p:nvCxnSpPr>
          <p:cNvPr id="8" name="Connecteur droit 7">
            <a:extLst>
              <a:ext uri="{FF2B5EF4-FFF2-40B4-BE49-F238E27FC236}">
                <a16:creationId xmlns:a16="http://schemas.microsoft.com/office/drawing/2014/main" id="{DF6A205D-13AC-9CC8-6689-E74BCE74B9E9}"/>
              </a:ext>
            </a:extLst>
          </p:cNvPr>
          <p:cNvCxnSpPr>
            <a:cxnSpLocks/>
          </p:cNvCxnSpPr>
          <p:nvPr/>
        </p:nvCxnSpPr>
        <p:spPr>
          <a:xfrm>
            <a:off x="3263297" y="1288258"/>
            <a:ext cx="5692167" cy="0"/>
          </a:xfrm>
          <a:prstGeom prst="line">
            <a:avLst/>
          </a:prstGeom>
          <a:ln w="38100"/>
        </p:spPr>
        <p:style>
          <a:lnRef idx="3">
            <a:schemeClr val="accent6"/>
          </a:lnRef>
          <a:fillRef idx="0">
            <a:schemeClr val="accent6"/>
          </a:fillRef>
          <a:effectRef idx="2">
            <a:schemeClr val="accent6"/>
          </a:effectRef>
          <a:fontRef idx="minor">
            <a:schemeClr val="tx1"/>
          </a:fontRef>
        </p:style>
      </p:cxnSp>
      <p:sp>
        <p:nvSpPr>
          <p:cNvPr id="7" name="Espace réservé du contenu 6">
            <a:extLst>
              <a:ext uri="{FF2B5EF4-FFF2-40B4-BE49-F238E27FC236}">
                <a16:creationId xmlns:a16="http://schemas.microsoft.com/office/drawing/2014/main" id="{B543ED1E-87A7-2CF6-06A9-826BD44499B4}"/>
              </a:ext>
            </a:extLst>
          </p:cNvPr>
          <p:cNvSpPr>
            <a:spLocks noGrp="1"/>
          </p:cNvSpPr>
          <p:nvPr>
            <p:ph idx="1"/>
          </p:nvPr>
        </p:nvSpPr>
        <p:spPr>
          <a:xfrm>
            <a:off x="872148" y="2280788"/>
            <a:ext cx="11116652" cy="4195481"/>
          </a:xfrm>
        </p:spPr>
        <p:txBody>
          <a:bodyPr>
            <a:normAutofit lnSpcReduction="10000"/>
          </a:bodyPr>
          <a:lstStyle/>
          <a:p>
            <a:pPr marL="0" indent="0" algn="ctr">
              <a:buNone/>
            </a:pPr>
            <a:r>
              <a:rPr lang="fr-FR" sz="4000" u="sng" dirty="0">
                <a:latin typeface="Algerian" panose="04020705040A02060702" pitchFamily="82" charset="0"/>
              </a:rPr>
              <a:t>thème:</a:t>
            </a:r>
            <a:r>
              <a:rPr lang="fr-FR" sz="4000" dirty="0">
                <a:latin typeface="Algerian" panose="04020705040A02060702" pitchFamily="82" charset="0"/>
              </a:rPr>
              <a:t> </a:t>
            </a:r>
            <a:r>
              <a:rPr lang="fr-FR" sz="4000" b="1" i="1" dirty="0">
                <a:latin typeface="Arial Black" panose="020B0A04020102020204" pitchFamily="34" charset="0"/>
              </a:rPr>
              <a:t>Gestion immobilière</a:t>
            </a:r>
          </a:p>
          <a:p>
            <a:pPr marL="0" indent="0" algn="ctr">
              <a:buNone/>
            </a:pPr>
            <a:endParaRPr lang="fr-FR" sz="4000" b="1" i="1" dirty="0">
              <a:latin typeface="Arial Black" panose="020B0A04020102020204" pitchFamily="34" charset="0"/>
            </a:endParaRPr>
          </a:p>
          <a:p>
            <a:pPr marL="0" indent="0" algn="ctr">
              <a:buNone/>
            </a:pPr>
            <a:endParaRPr lang="fr-FR" sz="4000" b="1" i="1" dirty="0">
              <a:latin typeface="Arial Black" panose="020B0A04020102020204" pitchFamily="34" charset="0"/>
            </a:endParaRPr>
          </a:p>
          <a:p>
            <a:pPr marL="0" indent="0" algn="ctr">
              <a:buNone/>
            </a:pPr>
            <a:endParaRPr lang="fr-FR" sz="4000" b="1" i="1" dirty="0">
              <a:latin typeface="Arial Black" panose="020B0A04020102020204" pitchFamily="34" charset="0"/>
            </a:endParaRPr>
          </a:p>
          <a:p>
            <a:pPr marL="0" indent="0" algn="ctr">
              <a:buNone/>
            </a:pPr>
            <a:endParaRPr lang="fr-FR" sz="1600" b="1" i="1" dirty="0">
              <a:latin typeface="Arial Black" panose="020B0A04020102020204" pitchFamily="34" charset="0"/>
            </a:endParaRPr>
          </a:p>
          <a:p>
            <a:pPr marL="0" indent="0" algn="ctr">
              <a:buNone/>
            </a:pPr>
            <a:endParaRPr lang="fr-FR" sz="1600" b="1" i="1" dirty="0">
              <a:latin typeface="Arial Black" panose="020B0A04020102020204" pitchFamily="34" charset="0"/>
            </a:endParaRPr>
          </a:p>
          <a:p>
            <a:pPr marL="0" indent="0" algn="ctr">
              <a:buNone/>
            </a:pPr>
            <a:endParaRPr lang="fr-FR" sz="1600" b="1" i="1" dirty="0">
              <a:latin typeface="Arial Black" panose="020B0A04020102020204" pitchFamily="34" charset="0"/>
            </a:endParaRPr>
          </a:p>
          <a:p>
            <a:pPr marL="0" indent="0" algn="ctr">
              <a:buNone/>
            </a:pPr>
            <a:r>
              <a:rPr lang="fr-FR" sz="1600" b="1" i="1" dirty="0">
                <a:latin typeface="Arial Black" panose="020B0A04020102020204" pitchFamily="34" charset="0"/>
              </a:rPr>
              <a:t>                                                                                                 Professeur: M.LOYA et M.TRAORE</a:t>
            </a:r>
            <a:endParaRPr lang="fr-BF" sz="1600" dirty="0"/>
          </a:p>
        </p:txBody>
      </p:sp>
    </p:spTree>
    <p:extLst>
      <p:ext uri="{BB962C8B-B14F-4D97-AF65-F5344CB8AC3E}">
        <p14:creationId xmlns:p14="http://schemas.microsoft.com/office/powerpoint/2010/main" val="183891928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042E7A-3C06-07A4-5A6F-8988E30E0CA5}"/>
              </a:ext>
            </a:extLst>
          </p:cNvPr>
          <p:cNvSpPr>
            <a:spLocks noGrp="1"/>
          </p:cNvSpPr>
          <p:nvPr>
            <p:ph type="title"/>
          </p:nvPr>
        </p:nvSpPr>
        <p:spPr>
          <a:xfrm>
            <a:off x="646111" y="452718"/>
            <a:ext cx="9157765" cy="895315"/>
          </a:xfrm>
        </p:spPr>
        <p:txBody>
          <a:bodyPr/>
          <a:lstStyle/>
          <a:p>
            <a:pPr algn="ctr"/>
            <a:r>
              <a:rPr lang="fr-FR" u="sng" dirty="0">
                <a:latin typeface="Algerian" panose="04020705040A02060702" pitchFamily="82" charset="0"/>
              </a:rPr>
              <a:t>Membres du groupe</a:t>
            </a:r>
            <a:endParaRPr lang="fr-BF" u="sng" dirty="0">
              <a:latin typeface="Algerian" panose="04020705040A02060702" pitchFamily="82" charset="0"/>
            </a:endParaRPr>
          </a:p>
        </p:txBody>
      </p:sp>
      <p:sp>
        <p:nvSpPr>
          <p:cNvPr id="3" name="Espace réservé du contenu 2">
            <a:extLst>
              <a:ext uri="{FF2B5EF4-FFF2-40B4-BE49-F238E27FC236}">
                <a16:creationId xmlns:a16="http://schemas.microsoft.com/office/drawing/2014/main" id="{6049B2A7-89BB-80BA-3548-73DA1A90EC1D}"/>
              </a:ext>
            </a:extLst>
          </p:cNvPr>
          <p:cNvSpPr>
            <a:spLocks noGrp="1"/>
          </p:cNvSpPr>
          <p:nvPr>
            <p:ph idx="1"/>
          </p:nvPr>
        </p:nvSpPr>
        <p:spPr>
          <a:xfrm>
            <a:off x="3064088" y="1689754"/>
            <a:ext cx="4647039" cy="3478491"/>
          </a:xfrm>
          <a:noFill/>
        </p:spPr>
        <p:txBody>
          <a:bodyPr/>
          <a:lstStyle/>
          <a:p>
            <a:r>
              <a:rPr lang="fr-FR" dirty="0"/>
              <a:t>OUEDRAOGO Innocent</a:t>
            </a:r>
          </a:p>
          <a:p>
            <a:r>
              <a:rPr lang="fr-FR" dirty="0"/>
              <a:t>OUEDRAOGO </a:t>
            </a:r>
            <a:r>
              <a:rPr lang="fr-FR" dirty="0" err="1"/>
              <a:t>Nemata</a:t>
            </a:r>
            <a:endParaRPr lang="fr-FR" dirty="0"/>
          </a:p>
          <a:p>
            <a:r>
              <a:rPr lang="fr-FR" dirty="0"/>
              <a:t>OUEDRAOGO W Océane</a:t>
            </a:r>
          </a:p>
          <a:p>
            <a:r>
              <a:rPr lang="fr-FR" dirty="0"/>
              <a:t>MONY-BEYA  Ben Junior</a:t>
            </a:r>
          </a:p>
          <a:p>
            <a:r>
              <a:rPr lang="fr-FR" dirty="0"/>
              <a:t>SAWADOGO </a:t>
            </a:r>
            <a:r>
              <a:rPr lang="fr-FR" dirty="0" err="1"/>
              <a:t>W.Astride</a:t>
            </a:r>
            <a:endParaRPr lang="fr-FR" dirty="0"/>
          </a:p>
          <a:p>
            <a:r>
              <a:rPr lang="fr-FR" dirty="0"/>
              <a:t>TAPSOBA Blandine</a:t>
            </a:r>
          </a:p>
          <a:p>
            <a:endParaRPr lang="fr-BF" dirty="0"/>
          </a:p>
        </p:txBody>
      </p:sp>
      <p:sp>
        <p:nvSpPr>
          <p:cNvPr id="4" name="Espace réservé du numéro de diapositive 3">
            <a:extLst>
              <a:ext uri="{FF2B5EF4-FFF2-40B4-BE49-F238E27FC236}">
                <a16:creationId xmlns:a16="http://schemas.microsoft.com/office/drawing/2014/main" id="{0182F824-F8CF-4765-544C-78728C73E892}"/>
              </a:ext>
            </a:extLst>
          </p:cNvPr>
          <p:cNvSpPr>
            <a:spLocks noGrp="1"/>
          </p:cNvSpPr>
          <p:nvPr>
            <p:ph type="sldNum" sz="quarter" idx="12"/>
          </p:nvPr>
        </p:nvSpPr>
        <p:spPr/>
        <p:txBody>
          <a:bodyPr/>
          <a:lstStyle/>
          <a:p>
            <a:fld id="{10AFB43F-0EC2-4BCC-B446-0128A0EBB831}" type="slidenum">
              <a:rPr lang="fr-BF" smtClean="0"/>
              <a:t>2</a:t>
            </a:fld>
            <a:endParaRPr lang="fr-BF"/>
          </a:p>
        </p:txBody>
      </p:sp>
    </p:spTree>
    <p:extLst>
      <p:ext uri="{BB962C8B-B14F-4D97-AF65-F5344CB8AC3E}">
        <p14:creationId xmlns:p14="http://schemas.microsoft.com/office/powerpoint/2010/main" val="11565304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fade">
                                      <p:cBhvr>
                                        <p:cTn id="45" dur="1000"/>
                                        <p:tgtEl>
                                          <p:spTgt spid="3">
                                            <p:txEl>
                                              <p:pRg st="5" end="5"/>
                                            </p:txEl>
                                          </p:spTgt>
                                        </p:tgtEl>
                                      </p:cBhvr>
                                    </p:animEffect>
                                    <p:anim calcmode="lin" valueType="num">
                                      <p:cBhvr>
                                        <p:cTn id="4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8E9133-E970-93AD-81E8-828C9AAF206C}"/>
              </a:ext>
            </a:extLst>
          </p:cNvPr>
          <p:cNvSpPr>
            <a:spLocks noGrp="1"/>
          </p:cNvSpPr>
          <p:nvPr>
            <p:ph type="title"/>
          </p:nvPr>
        </p:nvSpPr>
        <p:spPr>
          <a:xfrm>
            <a:off x="1070317" y="363151"/>
            <a:ext cx="9404723" cy="1400530"/>
          </a:xfrm>
        </p:spPr>
        <p:txBody>
          <a:bodyPr>
            <a:normAutofit/>
          </a:bodyPr>
          <a:lstStyle/>
          <a:p>
            <a:pPr algn="ctr"/>
            <a:r>
              <a:rPr lang="fr-FR" sz="3600" b="1" u="sng" dirty="0">
                <a:latin typeface="Algerian" panose="04020705040A02060702" pitchFamily="82" charset="0"/>
              </a:rPr>
              <a:t>TABLE DES MATIERES</a:t>
            </a:r>
            <a:endParaRPr lang="fr-BF" sz="3600" b="1" u="sng" dirty="0">
              <a:latin typeface="Algerian" panose="04020705040A02060702" pitchFamily="82" charset="0"/>
            </a:endParaRPr>
          </a:p>
        </p:txBody>
      </p:sp>
      <p:sp>
        <p:nvSpPr>
          <p:cNvPr id="3" name="Espace réservé du contenu 2">
            <a:extLst>
              <a:ext uri="{FF2B5EF4-FFF2-40B4-BE49-F238E27FC236}">
                <a16:creationId xmlns:a16="http://schemas.microsoft.com/office/drawing/2014/main" id="{0D454660-2BD5-9507-C511-3ED9898BFFAB}"/>
              </a:ext>
            </a:extLst>
          </p:cNvPr>
          <p:cNvSpPr>
            <a:spLocks noGrp="1"/>
          </p:cNvSpPr>
          <p:nvPr>
            <p:ph idx="1"/>
          </p:nvPr>
        </p:nvSpPr>
        <p:spPr>
          <a:xfrm>
            <a:off x="1391420" y="1443019"/>
            <a:ext cx="8961120" cy="4195481"/>
          </a:xfrm>
          <a:gradFill>
            <a:gsLst>
              <a:gs pos="93000">
                <a:srgbClr val="B6D5E0"/>
              </a:gs>
              <a:gs pos="47000">
                <a:schemeClr val="accent5">
                  <a:alpha val="6000"/>
                  <a:lumMod val="0"/>
                  <a:lumOff val="100000"/>
                </a:schemeClr>
              </a:gs>
              <a:gs pos="92000">
                <a:srgbClr val="A4CBD8"/>
              </a:gs>
              <a:gs pos="100000">
                <a:schemeClr val="accent3">
                  <a:lumMod val="0"/>
                  <a:lumOff val="100000"/>
                </a:schemeClr>
              </a:gs>
              <a:gs pos="100000">
                <a:schemeClr val="accent3">
                  <a:lumMod val="100000"/>
                </a:schemeClr>
              </a:gs>
            </a:gsLst>
            <a:path path="circle">
              <a:fillToRect l="50000" t="-80000" r="50000" b="180000"/>
            </a:path>
          </a:gradFill>
          <a:ln>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ln>
        </p:spPr>
        <p:txBody>
          <a:bodyPr>
            <a:normAutofit/>
          </a:bodyPr>
          <a:lstStyle/>
          <a:p>
            <a:pPr marL="0" indent="0" algn="just">
              <a:buNone/>
            </a:pPr>
            <a:r>
              <a:rPr lang="fr-FR" sz="2000" b="1" i="1" dirty="0">
                <a:latin typeface="Arial Rounded MT Bold" panose="020F0704030504030204" pitchFamily="34" charset="0"/>
                <a:cs typeface="Arial" panose="020B0604020202020204" pitchFamily="34" charset="0"/>
              </a:rPr>
              <a:t>                                                   </a:t>
            </a:r>
            <a:r>
              <a:rPr lang="fr-FR" sz="2800" b="1" i="1" dirty="0">
                <a:latin typeface="Algerian" panose="04020705040A02060702" pitchFamily="82" charset="0"/>
                <a:cs typeface="Arial" panose="020B0604020202020204" pitchFamily="34" charset="0"/>
              </a:rPr>
              <a:t>INTRODUCTION</a:t>
            </a:r>
          </a:p>
          <a:p>
            <a:pPr marL="0" indent="0" algn="ctr">
              <a:buNone/>
            </a:pPr>
            <a:r>
              <a:rPr lang="fr-FR" sz="2000" b="1" i="1" dirty="0">
                <a:latin typeface="Arial Rounded MT Bold" panose="020F0704030504030204" pitchFamily="34" charset="0"/>
                <a:cs typeface="Arial" panose="020B0604020202020204" pitchFamily="34" charset="0"/>
              </a:rPr>
              <a:t> I. </a:t>
            </a:r>
            <a:r>
              <a:rPr lang="fr-FR" b="1" i="1" dirty="0">
                <a:latin typeface="Arial Rounded MT Bold" panose="020F0704030504030204" pitchFamily="34" charset="0"/>
                <a:cs typeface="Arial" panose="020B0604020202020204" pitchFamily="34" charset="0"/>
              </a:rPr>
              <a:t>O</a:t>
            </a:r>
            <a:r>
              <a:rPr lang="fr-FR" sz="2000" b="1" i="1" dirty="0">
                <a:latin typeface="Arial Rounded MT Bold" panose="020F0704030504030204" pitchFamily="34" charset="0"/>
                <a:cs typeface="Arial" panose="020B0604020202020204" pitchFamily="34" charset="0"/>
              </a:rPr>
              <a:t>bjectif général</a:t>
            </a:r>
          </a:p>
          <a:p>
            <a:pPr marL="0" indent="0" algn="ctr">
              <a:buNone/>
            </a:pPr>
            <a:r>
              <a:rPr lang="fr-FR" b="1" i="1" dirty="0">
                <a:latin typeface="Arial Rounded MT Bold" panose="020F0704030504030204" pitchFamily="34" charset="0"/>
                <a:cs typeface="Arial" panose="020B0604020202020204" pitchFamily="34" charset="0"/>
              </a:rPr>
              <a:t>    II. Acteurs principaux</a:t>
            </a:r>
          </a:p>
          <a:p>
            <a:pPr marL="0" indent="0" algn="ctr">
              <a:buNone/>
            </a:pPr>
            <a:r>
              <a:rPr lang="fr-FR" sz="2000" b="1" i="1" dirty="0">
                <a:latin typeface="Arial Rounded MT Bold" panose="020F0704030504030204" pitchFamily="34" charset="0"/>
                <a:cs typeface="Arial" panose="020B0604020202020204" pitchFamily="34" charset="0"/>
              </a:rPr>
              <a:t>          IV. Différents diagrammes</a:t>
            </a:r>
          </a:p>
          <a:p>
            <a:pPr marL="0" indent="0" algn="ctr">
              <a:buNone/>
            </a:pPr>
            <a:r>
              <a:rPr lang="fr-FR" sz="2000" b="1" i="1" dirty="0">
                <a:latin typeface="Arial Rounded MT Bold" panose="020F0704030504030204" pitchFamily="34" charset="0"/>
                <a:cs typeface="Arial" panose="020B0604020202020204" pitchFamily="34" charset="0"/>
              </a:rPr>
              <a:t>         V. REALISATION DU </a:t>
            </a:r>
            <a:r>
              <a:rPr lang="fr-FR" b="1" i="1" dirty="0">
                <a:latin typeface="Arial Rounded MT Bold" panose="020F0704030504030204" pitchFamily="34" charset="0"/>
                <a:cs typeface="Arial" panose="020B0604020202020204" pitchFamily="34" charset="0"/>
              </a:rPr>
              <a:t> SITE</a:t>
            </a:r>
          </a:p>
          <a:p>
            <a:pPr marL="0" indent="0" algn="ctr">
              <a:buNone/>
            </a:pPr>
            <a:r>
              <a:rPr lang="fr-FR" sz="1800" b="1" i="1" dirty="0">
                <a:latin typeface="Arial Rounded MT Bold" panose="020F0704030504030204" pitchFamily="34" charset="0"/>
                <a:cs typeface="Arial" panose="020B0604020202020204" pitchFamily="34" charset="0"/>
              </a:rPr>
              <a:t>               V.1- Technologies  utilisées</a:t>
            </a:r>
          </a:p>
          <a:p>
            <a:pPr marL="0" indent="0" algn="ctr">
              <a:buNone/>
            </a:pPr>
            <a:r>
              <a:rPr lang="fr-FR" sz="1800" b="1" i="1" dirty="0">
                <a:latin typeface="Arial Rounded MT Bold" panose="020F0704030504030204" pitchFamily="34" charset="0"/>
                <a:cs typeface="Arial" panose="020B0604020202020204" pitchFamily="34" charset="0"/>
              </a:rPr>
              <a:t>V.2-base de </a:t>
            </a:r>
            <a:r>
              <a:rPr lang="fr-FR" sz="1800" b="1" i="1" dirty="0" err="1">
                <a:latin typeface="Arial Rounded MT Bold" panose="020F0704030504030204" pitchFamily="34" charset="0"/>
                <a:cs typeface="Arial" panose="020B0604020202020204" pitchFamily="34" charset="0"/>
              </a:rPr>
              <a:t>donnee</a:t>
            </a:r>
            <a:endParaRPr lang="fr-FR" sz="1800" b="1" i="1" dirty="0">
              <a:latin typeface="Arial Rounded MT Bold" panose="020F0704030504030204" pitchFamily="34" charset="0"/>
              <a:cs typeface="Arial" panose="020B0604020202020204" pitchFamily="34" charset="0"/>
            </a:endParaRPr>
          </a:p>
          <a:p>
            <a:pPr marL="0" indent="0" algn="ctr">
              <a:buNone/>
            </a:pPr>
            <a:r>
              <a:rPr lang="fr-FR" sz="1800" b="1" i="1" dirty="0">
                <a:latin typeface="Arial Rounded MT Bold" panose="020F0704030504030204" pitchFamily="34" charset="0"/>
                <a:cs typeface="Arial" panose="020B0604020202020204" pitchFamily="34" charset="0"/>
              </a:rPr>
              <a:t>       v.3-presentation du site</a:t>
            </a:r>
          </a:p>
          <a:p>
            <a:pPr marL="0" indent="0" algn="just">
              <a:buNone/>
            </a:pPr>
            <a:r>
              <a:rPr lang="fr-FR" b="1" i="1" dirty="0">
                <a:latin typeface="Arial Rounded MT Bold" panose="020F0704030504030204" pitchFamily="34" charset="0"/>
                <a:cs typeface="Arial" panose="020B0604020202020204" pitchFamily="34" charset="0"/>
              </a:rPr>
              <a:t>                                                   </a:t>
            </a:r>
            <a:r>
              <a:rPr lang="fr-FR" sz="2800" b="1" i="1" dirty="0">
                <a:latin typeface="Algerian" panose="04020705040A02060702" pitchFamily="82" charset="0"/>
                <a:cs typeface="Arial" panose="020B0604020202020204" pitchFamily="34" charset="0"/>
              </a:rPr>
              <a:t>CONCLUSION</a:t>
            </a:r>
          </a:p>
          <a:p>
            <a:pPr marL="0" indent="0" algn="ctr">
              <a:buNone/>
            </a:pPr>
            <a:endParaRPr lang="fr-FR" b="1" dirty="0">
              <a:latin typeface="Arial Rounded MT Bold" panose="020F0704030504030204" pitchFamily="34" charset="0"/>
            </a:endParaRPr>
          </a:p>
          <a:p>
            <a:pPr marL="0" indent="0" algn="just">
              <a:buNone/>
            </a:pPr>
            <a:endParaRPr lang="fr-BF" b="1" dirty="0">
              <a:latin typeface="Arial Rounded MT Bold" panose="020F0704030504030204" pitchFamily="34" charset="0"/>
            </a:endParaRPr>
          </a:p>
        </p:txBody>
      </p:sp>
      <p:sp>
        <p:nvSpPr>
          <p:cNvPr id="4" name="Espace réservé du numéro de diapositive 3">
            <a:extLst>
              <a:ext uri="{FF2B5EF4-FFF2-40B4-BE49-F238E27FC236}">
                <a16:creationId xmlns:a16="http://schemas.microsoft.com/office/drawing/2014/main" id="{EB646375-A0FB-1917-AA82-6DECFBA5F454}"/>
              </a:ext>
            </a:extLst>
          </p:cNvPr>
          <p:cNvSpPr>
            <a:spLocks noGrp="1"/>
          </p:cNvSpPr>
          <p:nvPr>
            <p:ph type="sldNum" sz="quarter" idx="12"/>
          </p:nvPr>
        </p:nvSpPr>
        <p:spPr/>
        <p:txBody>
          <a:bodyPr/>
          <a:lstStyle/>
          <a:p>
            <a:fld id="{10AFB43F-0EC2-4BCC-B446-0128A0EBB831}" type="slidenum">
              <a:rPr lang="fr-BF" smtClean="0"/>
              <a:t>3</a:t>
            </a:fld>
            <a:endParaRPr lang="fr-BF"/>
          </a:p>
        </p:txBody>
      </p:sp>
    </p:spTree>
    <p:extLst>
      <p:ext uri="{BB962C8B-B14F-4D97-AF65-F5344CB8AC3E}">
        <p14:creationId xmlns:p14="http://schemas.microsoft.com/office/powerpoint/2010/main" val="289392028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A3C53F-246B-13C8-03FD-2FFD372F8383}"/>
              </a:ext>
            </a:extLst>
          </p:cNvPr>
          <p:cNvSpPr>
            <a:spLocks noGrp="1"/>
          </p:cNvSpPr>
          <p:nvPr>
            <p:ph idx="1"/>
          </p:nvPr>
        </p:nvSpPr>
        <p:spPr>
          <a:xfrm>
            <a:off x="1825098" y="2601559"/>
            <a:ext cx="8946541" cy="2417482"/>
          </a:xfrm>
          <a:solidFill>
            <a:schemeClr val="accent5">
              <a:lumMod val="50000"/>
            </a:schemeClr>
          </a:solidFill>
        </p:spPr>
        <p:txBody>
          <a:bodyPr>
            <a:normAutofit lnSpcReduction="10000"/>
          </a:bodyPr>
          <a:lstStyle/>
          <a:p>
            <a:pPr marL="0" indent="0">
              <a:buNone/>
            </a:pPr>
            <a:r>
              <a:rPr lang="fr-FR" dirty="0">
                <a:latin typeface="Arial Rounded MT Bold" panose="020F0704030504030204" pitchFamily="34" charset="0"/>
              </a:rPr>
              <a:t>Au Burkina Faso, la gestion immobilière est encore largement manuelle, ce qui entraîne des déplacements fréquents, une perte de temps considérable et des difficultés dans la gestion des informations relatives aux biens immobiliers. Les agences immobilières assurent l'intermédiation entre bailleurs (propriétaires) et clients (acquéreurs ou locataires), mais ce processus reste fastidieux faute d'outils numériques adaptés. C’est pour cela </a:t>
            </a:r>
            <a:r>
              <a:rPr lang="en-US" dirty="0">
                <a:latin typeface="Arial Rounded MT Bold" panose="020F0704030504030204" pitchFamily="34" charset="0"/>
              </a:rPr>
              <a:t>nous avions </a:t>
            </a:r>
            <a:r>
              <a:rPr lang="en-US" dirty="0" err="1">
                <a:latin typeface="Arial Rounded MT Bold" panose="020F0704030504030204" pitchFamily="34" charset="0"/>
              </a:rPr>
              <a:t>développer</a:t>
            </a:r>
            <a:r>
              <a:rPr lang="en-US" dirty="0">
                <a:latin typeface="Arial Rounded MT Bold" panose="020F0704030504030204" pitchFamily="34" charset="0"/>
              </a:rPr>
              <a:t> FASO-IMMO un site qui </a:t>
            </a:r>
            <a:r>
              <a:rPr lang="en-US" dirty="0" err="1">
                <a:latin typeface="Arial Rounded MT Bold" panose="020F0704030504030204" pitchFamily="34" charset="0"/>
              </a:rPr>
              <a:t>répond</a:t>
            </a:r>
            <a:r>
              <a:rPr lang="en-US" dirty="0">
                <a:latin typeface="Arial Rounded MT Bold" panose="020F0704030504030204" pitchFamily="34" charset="0"/>
              </a:rPr>
              <a:t> aux </a:t>
            </a:r>
            <a:r>
              <a:rPr lang="en-US" dirty="0" err="1">
                <a:latin typeface="Arial Rounded MT Bold" panose="020F0704030504030204" pitchFamily="34" charset="0"/>
              </a:rPr>
              <a:t>besoins</a:t>
            </a:r>
            <a:r>
              <a:rPr lang="en-US" dirty="0">
                <a:latin typeface="Arial Rounded MT Bold" panose="020F0704030504030204" pitchFamily="34" charset="0"/>
              </a:rPr>
              <a:t>  </a:t>
            </a:r>
            <a:r>
              <a:rPr lang="en-US" dirty="0" err="1">
                <a:latin typeface="Arial Rounded MT Bold" panose="020F0704030504030204" pitchFamily="34" charset="0"/>
              </a:rPr>
              <a:t>actuels</a:t>
            </a:r>
            <a:r>
              <a:rPr lang="en-US" dirty="0">
                <a:latin typeface="Arial Rounded MT Bold" panose="020F0704030504030204" pitchFamily="34" charset="0"/>
              </a:rPr>
              <a:t> des agents </a:t>
            </a:r>
            <a:r>
              <a:rPr lang="en-US" dirty="0" err="1">
                <a:latin typeface="Arial Rounded MT Bold" panose="020F0704030504030204" pitchFamily="34" charset="0"/>
              </a:rPr>
              <a:t>immobiliers</a:t>
            </a:r>
            <a:r>
              <a:rPr lang="en-US" dirty="0">
                <a:latin typeface="Arial Rounded MT Bold" panose="020F0704030504030204" pitchFamily="34" charset="0"/>
              </a:rPr>
              <a:t> </a:t>
            </a:r>
            <a:endParaRPr lang="fr-FR" dirty="0">
              <a:latin typeface="Arial Rounded MT Bold" panose="020F0704030504030204" pitchFamily="34" charset="0"/>
            </a:endParaRPr>
          </a:p>
          <a:p>
            <a:pPr marL="0" indent="0">
              <a:buNone/>
            </a:pPr>
            <a:endParaRPr lang="fr-BF" dirty="0"/>
          </a:p>
        </p:txBody>
      </p:sp>
      <p:sp>
        <p:nvSpPr>
          <p:cNvPr id="6" name="Espace réservé du numéro de diapositive 5">
            <a:extLst>
              <a:ext uri="{FF2B5EF4-FFF2-40B4-BE49-F238E27FC236}">
                <a16:creationId xmlns:a16="http://schemas.microsoft.com/office/drawing/2014/main" id="{2DDFED84-339E-8682-430C-FEB8C8368A37}"/>
              </a:ext>
            </a:extLst>
          </p:cNvPr>
          <p:cNvSpPr>
            <a:spLocks noGrp="1"/>
          </p:cNvSpPr>
          <p:nvPr>
            <p:ph type="sldNum" sz="quarter" idx="12"/>
          </p:nvPr>
        </p:nvSpPr>
        <p:spPr/>
        <p:txBody>
          <a:bodyPr/>
          <a:lstStyle/>
          <a:p>
            <a:fld id="{10AFB43F-0EC2-4BCC-B446-0128A0EBB831}" type="slidenum">
              <a:rPr lang="fr-BF" smtClean="0"/>
              <a:t>4</a:t>
            </a:fld>
            <a:endParaRPr lang="fr-BF"/>
          </a:p>
        </p:txBody>
      </p:sp>
      <p:sp>
        <p:nvSpPr>
          <p:cNvPr id="8" name="Titre 7">
            <a:extLst>
              <a:ext uri="{FF2B5EF4-FFF2-40B4-BE49-F238E27FC236}">
                <a16:creationId xmlns:a16="http://schemas.microsoft.com/office/drawing/2014/main" id="{9C89C16E-9170-00FF-A336-04053119B3F7}"/>
              </a:ext>
            </a:extLst>
          </p:cNvPr>
          <p:cNvSpPr>
            <a:spLocks noGrp="1"/>
          </p:cNvSpPr>
          <p:nvPr>
            <p:ph type="title"/>
          </p:nvPr>
        </p:nvSpPr>
        <p:spPr>
          <a:xfrm>
            <a:off x="3712447" y="1063416"/>
            <a:ext cx="4767105" cy="659311"/>
          </a:xfrm>
        </p:spPr>
        <p:txBody>
          <a:bodyPr/>
          <a:lstStyle/>
          <a:p>
            <a:r>
              <a:rPr lang="fr-FR" b="1" u="sng" dirty="0">
                <a:latin typeface="Algerian" panose="04020705040A02060702" pitchFamily="82" charset="0"/>
              </a:rPr>
              <a:t>Introduction</a:t>
            </a:r>
            <a:endParaRPr lang="fr-BF" b="1" u="sng" dirty="0">
              <a:latin typeface="Algerian" panose="04020705040A02060702" pitchFamily="82" charset="0"/>
            </a:endParaRPr>
          </a:p>
        </p:txBody>
      </p:sp>
    </p:spTree>
    <p:extLst>
      <p:ext uri="{BB962C8B-B14F-4D97-AF65-F5344CB8AC3E}">
        <p14:creationId xmlns:p14="http://schemas.microsoft.com/office/powerpoint/2010/main" val="3881497515"/>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D28D9F-059D-7C82-7C72-CC70C49FD92C}"/>
              </a:ext>
            </a:extLst>
          </p:cNvPr>
          <p:cNvSpPr>
            <a:spLocks noGrp="1"/>
          </p:cNvSpPr>
          <p:nvPr>
            <p:ph type="title"/>
          </p:nvPr>
        </p:nvSpPr>
        <p:spPr/>
        <p:txBody>
          <a:bodyPr/>
          <a:lstStyle/>
          <a:p>
            <a:r>
              <a:rPr lang="fr-FR" dirty="0"/>
              <a:t> </a:t>
            </a:r>
            <a:endParaRPr lang="fr-BF" dirty="0"/>
          </a:p>
        </p:txBody>
      </p:sp>
      <p:sp>
        <p:nvSpPr>
          <p:cNvPr id="3" name="Espace réservé du contenu 2">
            <a:extLst>
              <a:ext uri="{FF2B5EF4-FFF2-40B4-BE49-F238E27FC236}">
                <a16:creationId xmlns:a16="http://schemas.microsoft.com/office/drawing/2014/main" id="{63E9ACEB-6526-1011-7C16-A6D00F079A2A}"/>
              </a:ext>
            </a:extLst>
          </p:cNvPr>
          <p:cNvSpPr>
            <a:spLocks noGrp="1"/>
          </p:cNvSpPr>
          <p:nvPr>
            <p:ph idx="1"/>
          </p:nvPr>
        </p:nvSpPr>
        <p:spPr/>
        <p:txBody>
          <a:bodyPr>
            <a:normAutofit lnSpcReduction="10000"/>
          </a:bodyPr>
          <a:lstStyle/>
          <a:p>
            <a:pPr marL="0" indent="0">
              <a:buNone/>
            </a:pPr>
            <a:r>
              <a:rPr lang="fr-FR" dirty="0">
                <a:latin typeface="Arial Rounded MT Bold" panose="020F0704030504030204" pitchFamily="34" charset="0"/>
              </a:rPr>
              <a:t>FASO-IMMO est une application web de gestion immobilière sécurisée, permettant la publication, la recherche et la gestion de biens immobiliers (vente et location), accessible à tous les acteurs concernés via une interface responsive.</a:t>
            </a:r>
          </a:p>
          <a:p>
            <a:pPr marL="0" indent="0">
              <a:buNone/>
            </a:pPr>
            <a:r>
              <a:rPr lang="fr-FR" sz="2800" b="1" dirty="0"/>
              <a:t>Objectifs spécifiques</a:t>
            </a:r>
          </a:p>
          <a:p>
            <a:r>
              <a:rPr lang="fr-FR" dirty="0">
                <a:latin typeface="Arial Narrow" panose="020B0606020202030204" pitchFamily="34" charset="0"/>
              </a:rPr>
              <a:t>Gérer les comptes utilisateurs (Client, Bailleur, Agent, Manager).</a:t>
            </a:r>
          </a:p>
          <a:p>
            <a:r>
              <a:rPr lang="fr-FR" dirty="0">
                <a:latin typeface="Arial Narrow" panose="020B0606020202030204" pitchFamily="34" charset="0"/>
              </a:rPr>
              <a:t>Publier et rechercher des biens immobiliers avec filtres avancés.</a:t>
            </a:r>
          </a:p>
          <a:p>
            <a:r>
              <a:rPr lang="fr-FR" dirty="0">
                <a:latin typeface="Arial Narrow" panose="020B0606020202030204" pitchFamily="34" charset="0"/>
              </a:rPr>
              <a:t>Gérer les demandes de visite entre clients et agents.</a:t>
            </a:r>
          </a:p>
          <a:p>
            <a:r>
              <a:rPr lang="fr-FR" dirty="0">
                <a:latin typeface="Arial Narrow" panose="020B0606020202030204" pitchFamily="34" charset="0"/>
              </a:rPr>
              <a:t>Assurer le suivi et la validation des annonces.</a:t>
            </a:r>
          </a:p>
          <a:p>
            <a:r>
              <a:rPr lang="fr-FR" dirty="0">
                <a:latin typeface="Arial Narrow" panose="020B0606020202030204" pitchFamily="34" charset="0"/>
              </a:rPr>
              <a:t>Produire des statistiques pour les responsables de l'agence.</a:t>
            </a:r>
          </a:p>
          <a:p>
            <a:r>
              <a:rPr lang="fr-FR" dirty="0">
                <a:latin typeface="Arial Narrow" panose="020B0606020202030204" pitchFamily="34" charset="0"/>
              </a:rPr>
              <a:t>Garantir la sécurité des données (</a:t>
            </a:r>
            <a:r>
              <a:rPr lang="fr-FR" dirty="0" err="1">
                <a:latin typeface="Arial Narrow" panose="020B0606020202030204" pitchFamily="34" charset="0"/>
              </a:rPr>
              <a:t>hashage</a:t>
            </a:r>
            <a:r>
              <a:rPr lang="fr-FR" dirty="0">
                <a:latin typeface="Arial Narrow" panose="020B0606020202030204" pitchFamily="34" charset="0"/>
              </a:rPr>
              <a:t>, injection SQL, XSS).</a:t>
            </a:r>
          </a:p>
          <a:p>
            <a:endParaRPr lang="fr-BF" dirty="0"/>
          </a:p>
        </p:txBody>
      </p:sp>
      <p:sp>
        <p:nvSpPr>
          <p:cNvPr id="4" name="Espace réservé du numéro de diapositive 3">
            <a:extLst>
              <a:ext uri="{FF2B5EF4-FFF2-40B4-BE49-F238E27FC236}">
                <a16:creationId xmlns:a16="http://schemas.microsoft.com/office/drawing/2014/main" id="{6B10591B-203B-FA35-335A-E9B8147B1E5E}"/>
              </a:ext>
            </a:extLst>
          </p:cNvPr>
          <p:cNvSpPr>
            <a:spLocks noGrp="1"/>
          </p:cNvSpPr>
          <p:nvPr>
            <p:ph type="sldNum" sz="quarter" idx="12"/>
          </p:nvPr>
        </p:nvSpPr>
        <p:spPr/>
        <p:txBody>
          <a:bodyPr/>
          <a:lstStyle/>
          <a:p>
            <a:fld id="{10AFB43F-0EC2-4BCC-B446-0128A0EBB831}" type="slidenum">
              <a:rPr lang="fr-BF" smtClean="0"/>
              <a:t>5</a:t>
            </a:fld>
            <a:endParaRPr lang="fr-BF"/>
          </a:p>
        </p:txBody>
      </p:sp>
      <p:sp>
        <p:nvSpPr>
          <p:cNvPr id="6" name="ZoneTexte 5">
            <a:extLst>
              <a:ext uri="{FF2B5EF4-FFF2-40B4-BE49-F238E27FC236}">
                <a16:creationId xmlns:a16="http://schemas.microsoft.com/office/drawing/2014/main" id="{806CD592-23E6-BF2C-B5BC-46015EA27915}"/>
              </a:ext>
            </a:extLst>
          </p:cNvPr>
          <p:cNvSpPr txBox="1"/>
          <p:nvPr/>
        </p:nvSpPr>
        <p:spPr>
          <a:xfrm>
            <a:off x="2301258" y="768262"/>
            <a:ext cx="6094428" cy="769441"/>
          </a:xfrm>
          <a:prstGeom prst="rect">
            <a:avLst/>
          </a:prstGeom>
          <a:noFill/>
        </p:spPr>
        <p:txBody>
          <a:bodyPr wrap="square">
            <a:spAutoFit/>
          </a:bodyPr>
          <a:lstStyle/>
          <a:p>
            <a:r>
              <a:rPr lang="fr-FR" sz="1800" i="1" dirty="0">
                <a:latin typeface="Arial" panose="020B0604020202020204" pitchFamily="34" charset="0"/>
                <a:cs typeface="Arial" panose="020B0604020202020204" pitchFamily="34" charset="0"/>
              </a:rPr>
              <a:t> </a:t>
            </a:r>
            <a:r>
              <a:rPr lang="fr-FR" sz="4400" b="1" u="sng" dirty="0">
                <a:latin typeface="Arial Rounded MT Bold" panose="020F0704030504030204" pitchFamily="34" charset="0"/>
                <a:cs typeface="Arial" panose="020B0604020202020204" pitchFamily="34" charset="0"/>
              </a:rPr>
              <a:t>I. Objectif général</a:t>
            </a:r>
            <a:endParaRPr lang="fr-BF" sz="4400" b="1" u="sng" dirty="0">
              <a:latin typeface="Arial Rounded MT Bold" panose="020F0704030504030204" pitchFamily="34" charset="0"/>
            </a:endParaRPr>
          </a:p>
        </p:txBody>
      </p:sp>
    </p:spTree>
    <p:extLst>
      <p:ext uri="{BB962C8B-B14F-4D97-AF65-F5344CB8AC3E}">
        <p14:creationId xmlns:p14="http://schemas.microsoft.com/office/powerpoint/2010/main" val="395245656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8CC72A-274B-2A59-F5E5-BB1CD843D502}"/>
              </a:ext>
            </a:extLst>
          </p:cNvPr>
          <p:cNvSpPr>
            <a:spLocks noGrp="1"/>
          </p:cNvSpPr>
          <p:nvPr>
            <p:ph type="title"/>
          </p:nvPr>
        </p:nvSpPr>
        <p:spPr>
          <a:xfrm>
            <a:off x="546755" y="214987"/>
            <a:ext cx="9503097" cy="1357228"/>
          </a:xfrm>
        </p:spPr>
        <p:txBody>
          <a:bodyPr/>
          <a:lstStyle/>
          <a:p>
            <a:pPr algn="ctr"/>
            <a:r>
              <a:rPr lang="fr-FR" b="1" u="sng" dirty="0">
                <a:latin typeface="Arial Rounded MT Bold" panose="020F0704030504030204" pitchFamily="34" charset="0"/>
                <a:cs typeface="Arial" panose="020B0604020202020204" pitchFamily="34" charset="0"/>
              </a:rPr>
              <a:t>II-Acteurs principaux </a:t>
            </a:r>
            <a:br>
              <a:rPr lang="fr-FR" i="1" dirty="0">
                <a:latin typeface="Arial" panose="020B0604020202020204" pitchFamily="34" charset="0"/>
                <a:cs typeface="Arial" panose="020B0604020202020204" pitchFamily="34" charset="0"/>
              </a:rPr>
            </a:br>
            <a:br>
              <a:rPr lang="fr-FR" dirty="0"/>
            </a:br>
            <a:endParaRPr lang="fr-BF" dirty="0"/>
          </a:p>
        </p:txBody>
      </p:sp>
      <p:sp>
        <p:nvSpPr>
          <p:cNvPr id="3" name="Espace réservé du contenu 2">
            <a:extLst>
              <a:ext uri="{FF2B5EF4-FFF2-40B4-BE49-F238E27FC236}">
                <a16:creationId xmlns:a16="http://schemas.microsoft.com/office/drawing/2014/main" id="{D82BACDD-6EF2-BAD7-92F0-2425E557ABB5}"/>
              </a:ext>
            </a:extLst>
          </p:cNvPr>
          <p:cNvSpPr>
            <a:spLocks noGrp="1"/>
          </p:cNvSpPr>
          <p:nvPr>
            <p:ph idx="1"/>
          </p:nvPr>
        </p:nvSpPr>
        <p:spPr>
          <a:xfrm>
            <a:off x="1009044" y="1421322"/>
            <a:ext cx="8946541" cy="4195481"/>
          </a:xfrm>
        </p:spPr>
        <p:txBody>
          <a:bodyPr/>
          <a:lstStyle/>
          <a:p>
            <a:pPr marL="0" indent="0">
              <a:buNone/>
            </a:pPr>
            <a:endParaRPr lang="fr-BF" dirty="0"/>
          </a:p>
        </p:txBody>
      </p:sp>
      <p:sp>
        <p:nvSpPr>
          <p:cNvPr id="4" name="Espace réservé du numéro de diapositive 3">
            <a:extLst>
              <a:ext uri="{FF2B5EF4-FFF2-40B4-BE49-F238E27FC236}">
                <a16:creationId xmlns:a16="http://schemas.microsoft.com/office/drawing/2014/main" id="{07457A26-C9DD-3CB2-4B36-A04A6F79AC75}"/>
              </a:ext>
            </a:extLst>
          </p:cNvPr>
          <p:cNvSpPr>
            <a:spLocks noGrp="1"/>
          </p:cNvSpPr>
          <p:nvPr>
            <p:ph type="sldNum" sz="quarter" idx="12"/>
          </p:nvPr>
        </p:nvSpPr>
        <p:spPr/>
        <p:txBody>
          <a:bodyPr/>
          <a:lstStyle/>
          <a:p>
            <a:fld id="{10AFB43F-0EC2-4BCC-B446-0128A0EBB831}" type="slidenum">
              <a:rPr lang="fr-BF" smtClean="0"/>
              <a:t>6</a:t>
            </a:fld>
            <a:endParaRPr lang="fr-BF"/>
          </a:p>
        </p:txBody>
      </p:sp>
      <p:sp>
        <p:nvSpPr>
          <p:cNvPr id="5" name="Titre 1">
            <a:extLst>
              <a:ext uri="{FF2B5EF4-FFF2-40B4-BE49-F238E27FC236}">
                <a16:creationId xmlns:a16="http://schemas.microsoft.com/office/drawing/2014/main" id="{60A63576-6521-95F1-0371-B106B7E207CA}"/>
              </a:ext>
            </a:extLst>
          </p:cNvPr>
          <p:cNvSpPr txBox="1">
            <a:spLocks/>
          </p:cNvSpPr>
          <p:nvPr/>
        </p:nvSpPr>
        <p:spPr>
          <a:xfrm>
            <a:off x="461309" y="761999"/>
            <a:ext cx="10353762" cy="97045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fr-FR" dirty="0"/>
          </a:p>
        </p:txBody>
      </p:sp>
      <p:sp>
        <p:nvSpPr>
          <p:cNvPr id="6" name="Espace réservé du contenu 2">
            <a:extLst>
              <a:ext uri="{FF2B5EF4-FFF2-40B4-BE49-F238E27FC236}">
                <a16:creationId xmlns:a16="http://schemas.microsoft.com/office/drawing/2014/main" id="{1423DA27-D1D4-C7D0-6D28-C60930700128}"/>
              </a:ext>
            </a:extLst>
          </p:cNvPr>
          <p:cNvSpPr txBox="1">
            <a:spLocks/>
          </p:cNvSpPr>
          <p:nvPr/>
        </p:nvSpPr>
        <p:spPr>
          <a:xfrm>
            <a:off x="913795" y="1732449"/>
            <a:ext cx="10353762" cy="405875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a:lstStyle>
          <a:p>
            <a:pPr marL="36900" indent="0">
              <a:buFont typeface="Wingdings 3" charset="2"/>
              <a:buNone/>
            </a:pPr>
            <a:r>
              <a:rPr lang="fr-FR" dirty="0">
                <a:latin typeface="Arial Black" panose="020B0A04020102020204" pitchFamily="34" charset="0"/>
              </a:rPr>
              <a:t>Les principaux acteurs qui interagissent sur FASO-IMMO sont:</a:t>
            </a:r>
          </a:p>
          <a:p>
            <a:r>
              <a:rPr lang="fr-FR" dirty="0">
                <a:latin typeface="Arial Black" panose="020B0A04020102020204" pitchFamily="34" charset="0"/>
              </a:rPr>
              <a:t> Visiteur anonyme</a:t>
            </a:r>
          </a:p>
          <a:p>
            <a:r>
              <a:rPr lang="fr-FR" dirty="0">
                <a:latin typeface="Arial Black" panose="020B0A04020102020204" pitchFamily="34" charset="0"/>
              </a:rPr>
              <a:t> Client</a:t>
            </a:r>
          </a:p>
          <a:p>
            <a:r>
              <a:rPr lang="fr-FR" dirty="0">
                <a:latin typeface="Arial Black" panose="020B0A04020102020204" pitchFamily="34" charset="0"/>
              </a:rPr>
              <a:t> Bailleur</a:t>
            </a:r>
          </a:p>
          <a:p>
            <a:r>
              <a:rPr lang="fr-FR" dirty="0">
                <a:latin typeface="Arial Black" panose="020B0A04020102020204" pitchFamily="34" charset="0"/>
              </a:rPr>
              <a:t> Agent</a:t>
            </a:r>
          </a:p>
          <a:p>
            <a:r>
              <a:rPr lang="fr-FR" dirty="0">
                <a:latin typeface="Arial Black" panose="020B0A04020102020204" pitchFamily="34" charset="0"/>
              </a:rPr>
              <a:t>Manager</a:t>
            </a:r>
          </a:p>
        </p:txBody>
      </p:sp>
      <p:sp>
        <p:nvSpPr>
          <p:cNvPr id="7" name="Espace réservé du numéro de diapositive 3">
            <a:extLst>
              <a:ext uri="{FF2B5EF4-FFF2-40B4-BE49-F238E27FC236}">
                <a16:creationId xmlns:a16="http://schemas.microsoft.com/office/drawing/2014/main" id="{5CD8F158-D8BC-3EDD-C17A-A919DF124387}"/>
              </a:ext>
            </a:extLst>
          </p:cNvPr>
          <p:cNvSpPr txBox="1">
            <a:spLocks/>
          </p:cNvSpPr>
          <p:nvPr/>
        </p:nvSpPr>
        <p:spPr>
          <a:xfrm>
            <a:off x="10514011" y="5883275"/>
            <a:ext cx="753545" cy="365125"/>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0AFB43F-0EC2-4BCC-B446-0128A0EBB831}" type="slidenum">
              <a:rPr lang="fr-BF" smtClean="0"/>
              <a:pPr/>
              <a:t>6</a:t>
            </a:fld>
            <a:endParaRPr lang="fr-BF"/>
          </a:p>
        </p:txBody>
      </p:sp>
    </p:spTree>
    <p:extLst>
      <p:ext uri="{BB962C8B-B14F-4D97-AF65-F5344CB8AC3E}">
        <p14:creationId xmlns:p14="http://schemas.microsoft.com/office/powerpoint/2010/main" val="308628940"/>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694589-2BA6-4DA0-E260-2696FAE81E78}"/>
              </a:ext>
            </a:extLst>
          </p:cNvPr>
          <p:cNvSpPr>
            <a:spLocks noGrp="1"/>
          </p:cNvSpPr>
          <p:nvPr>
            <p:ph type="title"/>
          </p:nvPr>
        </p:nvSpPr>
        <p:spPr>
          <a:xfrm>
            <a:off x="6278880" y="1584960"/>
            <a:ext cx="5913120" cy="1844039"/>
          </a:xfrm>
        </p:spPr>
        <p:txBody>
          <a:bodyPr/>
          <a:lstStyle/>
          <a:p>
            <a:r>
              <a:rPr lang="fr-FR" sz="2600" u="sng" dirty="0">
                <a:latin typeface="Algerian" panose="04020705040A02060702" pitchFamily="82" charset="0"/>
              </a:rPr>
              <a:t>IV- Les différents diagrammes</a:t>
            </a:r>
            <a:br>
              <a:rPr lang="fr-FR" sz="2600" u="sng" dirty="0">
                <a:latin typeface="Algerian" panose="04020705040A02060702" pitchFamily="82" charset="0"/>
              </a:rPr>
            </a:br>
            <a:br>
              <a:rPr lang="fr-FR" sz="2600" u="sng" dirty="0">
                <a:latin typeface="Algerian" panose="04020705040A02060702" pitchFamily="82" charset="0"/>
              </a:rPr>
            </a:br>
            <a:r>
              <a:rPr lang="fr-FR" sz="2600" u="sng" dirty="0">
                <a:latin typeface="Arial Rounded MT Bold" panose="020F0704030504030204" pitchFamily="34" charset="0"/>
                <a:cs typeface="Aharoni" panose="02010803020104030203" pitchFamily="2" charset="-79"/>
              </a:rPr>
              <a:t>1-Diagramme de cas d’utilisation</a:t>
            </a:r>
            <a:endParaRPr lang="fr-BF" sz="2600" u="sng" dirty="0">
              <a:latin typeface="Arial Rounded MT Bold" panose="020F0704030504030204" pitchFamily="34" charset="0"/>
              <a:cs typeface="Aharoni" panose="02010803020104030203" pitchFamily="2" charset="-79"/>
            </a:endParaRPr>
          </a:p>
        </p:txBody>
      </p:sp>
      <p:sp>
        <p:nvSpPr>
          <p:cNvPr id="3" name="Espace réservé du contenu 2">
            <a:extLst>
              <a:ext uri="{FF2B5EF4-FFF2-40B4-BE49-F238E27FC236}">
                <a16:creationId xmlns:a16="http://schemas.microsoft.com/office/drawing/2014/main" id="{DEE56250-94A8-F561-EEFF-09F9643DC491}"/>
              </a:ext>
            </a:extLst>
          </p:cNvPr>
          <p:cNvSpPr>
            <a:spLocks noGrp="1"/>
          </p:cNvSpPr>
          <p:nvPr>
            <p:ph idx="1"/>
          </p:nvPr>
        </p:nvSpPr>
        <p:spPr>
          <a:xfrm>
            <a:off x="6666175" y="3615096"/>
            <a:ext cx="5138529" cy="2002949"/>
          </a:xfrm>
        </p:spPr>
        <p:txBody>
          <a:bodyPr/>
          <a:lstStyle/>
          <a:p>
            <a:r>
              <a:rPr lang="fr-FR" dirty="0">
                <a:latin typeface="Arial Rounded MT Bold" panose="020F0704030504030204" pitchFamily="34" charset="0"/>
              </a:rPr>
              <a:t>Ce diagramme représente un système de gestion immobilière. Il montre les différents acteurs qui utilisent le système et les actions qu’ils peuvent effectuer</a:t>
            </a:r>
            <a:r>
              <a:rPr lang="fr-FR" dirty="0"/>
              <a:t>. </a:t>
            </a:r>
            <a:endParaRPr lang="fr-BF" dirty="0"/>
          </a:p>
        </p:txBody>
      </p:sp>
      <p:pic>
        <p:nvPicPr>
          <p:cNvPr id="6" name="Image 5">
            <a:extLst>
              <a:ext uri="{FF2B5EF4-FFF2-40B4-BE49-F238E27FC236}">
                <a16:creationId xmlns:a16="http://schemas.microsoft.com/office/drawing/2014/main" id="{800981F9-369C-9ED3-4065-A4EC3DC068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913120" cy="6858000"/>
          </a:xfrm>
          <a:prstGeom prst="rect">
            <a:avLst/>
          </a:prstGeom>
        </p:spPr>
      </p:pic>
      <p:sp>
        <p:nvSpPr>
          <p:cNvPr id="7" name="Espace réservé du numéro de diapositive 6">
            <a:extLst>
              <a:ext uri="{FF2B5EF4-FFF2-40B4-BE49-F238E27FC236}">
                <a16:creationId xmlns:a16="http://schemas.microsoft.com/office/drawing/2014/main" id="{6F54EDCC-92DB-EAC8-B237-88CCBA5D06B6}"/>
              </a:ext>
            </a:extLst>
          </p:cNvPr>
          <p:cNvSpPr>
            <a:spLocks noGrp="1"/>
          </p:cNvSpPr>
          <p:nvPr>
            <p:ph type="sldNum" sz="quarter" idx="12"/>
          </p:nvPr>
        </p:nvSpPr>
        <p:spPr/>
        <p:txBody>
          <a:bodyPr/>
          <a:lstStyle/>
          <a:p>
            <a:fld id="{10AFB43F-0EC2-4BCC-B446-0128A0EBB831}" type="slidenum">
              <a:rPr lang="fr-BF" smtClean="0"/>
              <a:t>7</a:t>
            </a:fld>
            <a:endParaRPr lang="fr-BF"/>
          </a:p>
        </p:txBody>
      </p:sp>
    </p:spTree>
    <p:extLst>
      <p:ext uri="{BB962C8B-B14F-4D97-AF65-F5344CB8AC3E}">
        <p14:creationId xmlns:p14="http://schemas.microsoft.com/office/powerpoint/2010/main" val="378376094"/>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01DBFE-EAE9-C4D9-C03A-F1608EEA1509}"/>
              </a:ext>
            </a:extLst>
          </p:cNvPr>
          <p:cNvSpPr>
            <a:spLocks noGrp="1"/>
          </p:cNvSpPr>
          <p:nvPr>
            <p:ph type="title"/>
          </p:nvPr>
        </p:nvSpPr>
        <p:spPr>
          <a:xfrm>
            <a:off x="5749107" y="399424"/>
            <a:ext cx="4603433" cy="1071282"/>
          </a:xfrm>
        </p:spPr>
        <p:txBody>
          <a:bodyPr/>
          <a:lstStyle/>
          <a:p>
            <a:r>
              <a:rPr lang="fr-FR" sz="2800" u="sng" dirty="0">
                <a:latin typeface="Arial Rounded MT Bold" panose="020F0704030504030204" pitchFamily="34" charset="0"/>
              </a:rPr>
              <a:t>2-Diagramme de classe</a:t>
            </a:r>
            <a:endParaRPr lang="fr-BF" sz="2800" u="sng" dirty="0">
              <a:latin typeface="Arial Rounded MT Bold" panose="020F0704030504030204" pitchFamily="34" charset="0"/>
            </a:endParaRPr>
          </a:p>
        </p:txBody>
      </p:sp>
      <p:sp>
        <p:nvSpPr>
          <p:cNvPr id="3" name="Espace réservé du contenu 2">
            <a:extLst>
              <a:ext uri="{FF2B5EF4-FFF2-40B4-BE49-F238E27FC236}">
                <a16:creationId xmlns:a16="http://schemas.microsoft.com/office/drawing/2014/main" id="{B965E991-0311-AAD5-CBA0-FC37FA58C4AB}"/>
              </a:ext>
            </a:extLst>
          </p:cNvPr>
          <p:cNvSpPr>
            <a:spLocks noGrp="1"/>
          </p:cNvSpPr>
          <p:nvPr>
            <p:ph idx="1"/>
          </p:nvPr>
        </p:nvSpPr>
        <p:spPr>
          <a:xfrm>
            <a:off x="5523322" y="1825624"/>
            <a:ext cx="6203621" cy="2492375"/>
          </a:xfrm>
        </p:spPr>
        <p:txBody>
          <a:bodyPr>
            <a:normAutofit lnSpcReduction="10000"/>
          </a:bodyPr>
          <a:lstStyle/>
          <a:p>
            <a:r>
              <a:rPr lang="fr-FR" dirty="0">
                <a:latin typeface="Arial Rounded MT Bold" panose="020F0704030504030204" pitchFamily="34" charset="0"/>
              </a:rPr>
              <a:t>Le diagramme de classe représente la structure du système en identifiant les différentes classes, leurs attributs, leurs méthodes, ainsi que les relations qui les lient. Il constitue une étape essentielle de la conception d’une application et sert de base à l’implémentation de la base de données et du programme.</a:t>
            </a:r>
            <a:endParaRPr lang="fr-BF" dirty="0">
              <a:latin typeface="Arial Rounded MT Bold" panose="020F0704030504030204" pitchFamily="34" charset="0"/>
            </a:endParaRPr>
          </a:p>
        </p:txBody>
      </p:sp>
      <p:sp>
        <p:nvSpPr>
          <p:cNvPr id="4" name="Espace réservé du numéro de diapositive 3">
            <a:extLst>
              <a:ext uri="{FF2B5EF4-FFF2-40B4-BE49-F238E27FC236}">
                <a16:creationId xmlns:a16="http://schemas.microsoft.com/office/drawing/2014/main" id="{BFAD916D-16D7-E3D3-64F8-EF4858E52B4F}"/>
              </a:ext>
            </a:extLst>
          </p:cNvPr>
          <p:cNvSpPr>
            <a:spLocks noGrp="1"/>
          </p:cNvSpPr>
          <p:nvPr>
            <p:ph type="sldNum" sz="quarter" idx="12"/>
          </p:nvPr>
        </p:nvSpPr>
        <p:spPr/>
        <p:txBody>
          <a:bodyPr/>
          <a:lstStyle/>
          <a:p>
            <a:fld id="{10AFB43F-0EC2-4BCC-B446-0128A0EBB831}" type="slidenum">
              <a:rPr lang="fr-BF" smtClean="0"/>
              <a:t>8</a:t>
            </a:fld>
            <a:endParaRPr lang="fr-BF"/>
          </a:p>
        </p:txBody>
      </p:sp>
      <p:pic>
        <p:nvPicPr>
          <p:cNvPr id="6" name="Image 5">
            <a:extLst>
              <a:ext uri="{FF2B5EF4-FFF2-40B4-BE49-F238E27FC236}">
                <a16:creationId xmlns:a16="http://schemas.microsoft.com/office/drawing/2014/main" id="{BCEE2B61-1DE2-0D2C-9E7D-FDDC532B3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427"/>
            <a:ext cx="5523322" cy="6858000"/>
          </a:xfrm>
          <a:prstGeom prst="rect">
            <a:avLst/>
          </a:prstGeom>
        </p:spPr>
      </p:pic>
    </p:spTree>
    <p:extLst>
      <p:ext uri="{BB962C8B-B14F-4D97-AF65-F5344CB8AC3E}">
        <p14:creationId xmlns:p14="http://schemas.microsoft.com/office/powerpoint/2010/main" val="941472488"/>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692605-BAC9-D6B7-2EE2-C99CF79684B1}"/>
              </a:ext>
            </a:extLst>
          </p:cNvPr>
          <p:cNvSpPr>
            <a:spLocks noGrp="1"/>
          </p:cNvSpPr>
          <p:nvPr>
            <p:ph type="title"/>
          </p:nvPr>
        </p:nvSpPr>
        <p:spPr>
          <a:xfrm>
            <a:off x="2119311" y="143329"/>
            <a:ext cx="9404723" cy="1557519"/>
          </a:xfrm>
        </p:spPr>
        <p:txBody>
          <a:bodyPr/>
          <a:lstStyle/>
          <a:p>
            <a:r>
              <a:rPr lang="fr-FR" sz="4400" u="sng" dirty="0">
                <a:solidFill>
                  <a:schemeClr val="accent5">
                    <a:lumMod val="60000"/>
                    <a:lumOff val="40000"/>
                  </a:schemeClr>
                </a:solidFill>
                <a:latin typeface="Arial Black" panose="020B0A04020102020204" pitchFamily="34" charset="0"/>
              </a:rPr>
              <a:t>V-REALISATION DU SITE</a:t>
            </a:r>
            <a:endParaRPr lang="fr-BF" dirty="0"/>
          </a:p>
        </p:txBody>
      </p:sp>
      <p:sp>
        <p:nvSpPr>
          <p:cNvPr id="3" name="Espace réservé du contenu 2">
            <a:extLst>
              <a:ext uri="{FF2B5EF4-FFF2-40B4-BE49-F238E27FC236}">
                <a16:creationId xmlns:a16="http://schemas.microsoft.com/office/drawing/2014/main" id="{A5ADFE8D-062E-0E2A-FEF8-0AF235BAB082}"/>
              </a:ext>
            </a:extLst>
          </p:cNvPr>
          <p:cNvSpPr>
            <a:spLocks noGrp="1"/>
          </p:cNvSpPr>
          <p:nvPr>
            <p:ph idx="1"/>
          </p:nvPr>
        </p:nvSpPr>
        <p:spPr>
          <a:xfrm>
            <a:off x="1622729" y="1215816"/>
            <a:ext cx="8946541" cy="4195481"/>
          </a:xfrm>
        </p:spPr>
        <p:txBody>
          <a:bodyPr>
            <a:normAutofit/>
          </a:bodyPr>
          <a:lstStyle/>
          <a:p>
            <a:pPr marL="0" indent="0">
              <a:buNone/>
            </a:pPr>
            <a:r>
              <a:rPr lang="fr-FR" sz="3200" b="1" u="sng" dirty="0">
                <a:latin typeface="Arial Rounded MT Bold" panose="020F0704030504030204" pitchFamily="34" charset="0"/>
              </a:rPr>
              <a:t>V.1- Technologies utilisées</a:t>
            </a:r>
            <a:endParaRPr lang="fr-BF" sz="3200" dirty="0"/>
          </a:p>
        </p:txBody>
      </p:sp>
      <p:sp>
        <p:nvSpPr>
          <p:cNvPr id="4" name="Espace réservé du numéro de diapositive 3">
            <a:extLst>
              <a:ext uri="{FF2B5EF4-FFF2-40B4-BE49-F238E27FC236}">
                <a16:creationId xmlns:a16="http://schemas.microsoft.com/office/drawing/2014/main" id="{E8ACD1CA-6B48-41EF-5776-DE2C70A38753}"/>
              </a:ext>
            </a:extLst>
          </p:cNvPr>
          <p:cNvSpPr>
            <a:spLocks noGrp="1"/>
          </p:cNvSpPr>
          <p:nvPr>
            <p:ph type="sldNum" sz="quarter" idx="12"/>
          </p:nvPr>
        </p:nvSpPr>
        <p:spPr/>
        <p:txBody>
          <a:bodyPr/>
          <a:lstStyle/>
          <a:p>
            <a:fld id="{10AFB43F-0EC2-4BCC-B446-0128A0EBB831}" type="slidenum">
              <a:rPr lang="fr-BF" smtClean="0"/>
              <a:t>9</a:t>
            </a:fld>
            <a:endParaRPr lang="fr-BF"/>
          </a:p>
        </p:txBody>
      </p:sp>
      <p:sp>
        <p:nvSpPr>
          <p:cNvPr id="6" name="ZoneTexte 5">
            <a:extLst>
              <a:ext uri="{FF2B5EF4-FFF2-40B4-BE49-F238E27FC236}">
                <a16:creationId xmlns:a16="http://schemas.microsoft.com/office/drawing/2014/main" id="{24ECC565-93DC-71FE-C17E-37D769E9D55C}"/>
              </a:ext>
            </a:extLst>
          </p:cNvPr>
          <p:cNvSpPr txBox="1"/>
          <p:nvPr/>
        </p:nvSpPr>
        <p:spPr>
          <a:xfrm>
            <a:off x="1706880" y="2541677"/>
            <a:ext cx="9204960" cy="1754326"/>
          </a:xfrm>
          <a:prstGeom prst="rect">
            <a:avLst/>
          </a:prstGeom>
          <a:noFill/>
        </p:spPr>
        <p:txBody>
          <a:bodyPr wrap="square">
            <a:spAutoFit/>
          </a:bodyPr>
          <a:lstStyle/>
          <a:p>
            <a:pPr marL="0" indent="0">
              <a:buNone/>
            </a:pPr>
            <a:r>
              <a:rPr lang="en-US" dirty="0">
                <a:latin typeface="Arial Rounded MT Bold" panose="020F0704030504030204" pitchFamily="34" charset="0"/>
              </a:rPr>
              <a:t>Dans le </a:t>
            </a:r>
            <a:r>
              <a:rPr lang="en-US" dirty="0" err="1">
                <a:latin typeface="Arial Rounded MT Bold" panose="020F0704030504030204" pitchFamily="34" charset="0"/>
              </a:rPr>
              <a:t>cas</a:t>
            </a:r>
            <a:r>
              <a:rPr lang="en-US" dirty="0">
                <a:latin typeface="Arial Rounded MT Bold" panose="020F0704030504030204" pitchFamily="34" charset="0"/>
              </a:rPr>
              <a:t> de la </a:t>
            </a:r>
            <a:r>
              <a:rPr lang="en-US" dirty="0" err="1">
                <a:latin typeface="Arial Rounded MT Bold" panose="020F0704030504030204" pitchFamily="34" charset="0"/>
              </a:rPr>
              <a:t>réalisation</a:t>
            </a:r>
            <a:r>
              <a:rPr lang="en-US" dirty="0">
                <a:latin typeface="Arial Rounded MT Bold" panose="020F0704030504030204" pitchFamily="34" charset="0"/>
              </a:rPr>
              <a:t> du site FASO-IMMO nous avions </a:t>
            </a:r>
            <a:r>
              <a:rPr lang="en-US" dirty="0" err="1">
                <a:latin typeface="Arial Rounded MT Bold" panose="020F0704030504030204" pitchFamily="34" charset="0"/>
              </a:rPr>
              <a:t>eu</a:t>
            </a:r>
            <a:r>
              <a:rPr lang="en-US" dirty="0">
                <a:latin typeface="Arial Rounded MT Bold" panose="020F0704030504030204" pitchFamily="34" charset="0"/>
              </a:rPr>
              <a:t> à</a:t>
            </a:r>
            <a:r>
              <a:rPr lang="fr-FR" dirty="0">
                <a:latin typeface="Arial Rounded MT Bold" panose="020F0704030504030204" pitchFamily="34" charset="0"/>
              </a:rPr>
              <a:t> utiliser plusieurs logiciels qui sont :</a:t>
            </a:r>
          </a:p>
          <a:p>
            <a:pPr marL="285750" indent="-285750">
              <a:buFont typeface="Wingdings" panose="05000000000000000000" pitchFamily="2" charset="2"/>
              <a:buChar char="Ø"/>
            </a:pPr>
            <a:r>
              <a:rPr lang="fr-FR" dirty="0">
                <a:latin typeface="Arial Rounded MT Bold" panose="020F0704030504030204" pitchFamily="34" charset="0"/>
              </a:rPr>
              <a:t>Visual Studio Code </a:t>
            </a:r>
          </a:p>
          <a:p>
            <a:pPr marL="285750" indent="-285750">
              <a:buFont typeface="Wingdings" panose="05000000000000000000" pitchFamily="2" charset="2"/>
              <a:buChar char="Ø"/>
            </a:pPr>
            <a:r>
              <a:rPr lang="fr-FR" dirty="0" err="1">
                <a:latin typeface="Arial Rounded MT Bold" panose="020F0704030504030204" pitchFamily="34" charset="0"/>
              </a:rPr>
              <a:t>StarUML</a:t>
            </a:r>
            <a:r>
              <a:rPr lang="fr-FR" dirty="0">
                <a:latin typeface="Arial Rounded MT Bold" panose="020F0704030504030204" pitchFamily="34" charset="0"/>
              </a:rPr>
              <a:t> </a:t>
            </a:r>
          </a:p>
          <a:p>
            <a:pPr marL="285750" indent="-285750">
              <a:buFont typeface="Wingdings" panose="05000000000000000000" pitchFamily="2" charset="2"/>
              <a:buChar char="Ø"/>
            </a:pPr>
            <a:r>
              <a:rPr lang="fr-FR" dirty="0" err="1">
                <a:latin typeface="Arial Rounded MT Bold" panose="020F0704030504030204" pitchFamily="34" charset="0"/>
              </a:rPr>
              <a:t>Wampserver</a:t>
            </a:r>
            <a:endParaRPr lang="fr-FR" dirty="0">
              <a:latin typeface="Arial Rounded MT Bold" panose="020F0704030504030204" pitchFamily="34" charset="0"/>
            </a:endParaRPr>
          </a:p>
          <a:p>
            <a:pPr marL="285750" indent="-285750">
              <a:buFont typeface="Wingdings" panose="05000000000000000000" pitchFamily="2" charset="2"/>
              <a:buChar char="Ø"/>
            </a:pPr>
            <a:r>
              <a:rPr lang="fr-FR" dirty="0" err="1">
                <a:latin typeface="Arial Rounded MT Bold" panose="020F0704030504030204" pitchFamily="34" charset="0"/>
              </a:rPr>
              <a:t>Mysql</a:t>
            </a:r>
            <a:r>
              <a:rPr lang="fr-FR" dirty="0">
                <a:latin typeface="Arial Rounded MT Bold" panose="020F0704030504030204" pitchFamily="34" charset="0"/>
              </a:rPr>
              <a:t> </a:t>
            </a:r>
          </a:p>
        </p:txBody>
      </p:sp>
    </p:spTree>
    <p:extLst>
      <p:ext uri="{BB962C8B-B14F-4D97-AF65-F5344CB8AC3E}">
        <p14:creationId xmlns:p14="http://schemas.microsoft.com/office/powerpoint/2010/main" val="3096412497"/>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C3A6D-8BD9-ADB4-511C-B962E02CDC15}"/>
              </a:ext>
            </a:extLst>
          </p:cNvPr>
          <p:cNvSpPr>
            <a:spLocks noGrp="1"/>
          </p:cNvSpPr>
          <p:nvPr>
            <p:ph type="title"/>
          </p:nvPr>
        </p:nvSpPr>
        <p:spPr>
          <a:xfrm>
            <a:off x="2606991" y="137758"/>
            <a:ext cx="9404723" cy="1915160"/>
          </a:xfrm>
        </p:spPr>
        <p:txBody>
          <a:bodyPr/>
          <a:lstStyle/>
          <a:p>
            <a:r>
              <a:rPr lang="fr-FR" sz="4000" u="sng" dirty="0">
                <a:solidFill>
                  <a:schemeClr val="accent5">
                    <a:lumMod val="60000"/>
                    <a:lumOff val="40000"/>
                  </a:schemeClr>
                </a:solidFill>
                <a:latin typeface="Arial Black" panose="020B0A04020102020204" pitchFamily="34" charset="0"/>
              </a:rPr>
              <a:t>V-REALISATION DU SITE</a:t>
            </a:r>
            <a:endParaRPr lang="fr-BF" dirty="0"/>
          </a:p>
        </p:txBody>
      </p:sp>
      <p:sp>
        <p:nvSpPr>
          <p:cNvPr id="3" name="Espace réservé du contenu 2">
            <a:extLst>
              <a:ext uri="{FF2B5EF4-FFF2-40B4-BE49-F238E27FC236}">
                <a16:creationId xmlns:a16="http://schemas.microsoft.com/office/drawing/2014/main" id="{3A3B09E7-E85E-7496-0818-1B5685C443EC}"/>
              </a:ext>
            </a:extLst>
          </p:cNvPr>
          <p:cNvSpPr>
            <a:spLocks noGrp="1"/>
          </p:cNvSpPr>
          <p:nvPr>
            <p:ph idx="1"/>
          </p:nvPr>
        </p:nvSpPr>
        <p:spPr>
          <a:xfrm>
            <a:off x="180286" y="955638"/>
            <a:ext cx="11920274" cy="6014122"/>
          </a:xfrm>
        </p:spPr>
        <p:txBody>
          <a:bodyPr/>
          <a:lstStyle/>
          <a:p>
            <a:r>
              <a:rPr lang="fr-FR" sz="3200" dirty="0">
                <a:latin typeface="Arial Black" panose="020B0A04020102020204" pitchFamily="34" charset="0"/>
              </a:rPr>
              <a:t>V.2-</a:t>
            </a:r>
            <a:r>
              <a:rPr lang="fr-FR" sz="3200" b="1" i="1" dirty="0">
                <a:latin typeface="Arial Black" panose="020B0A04020102020204" pitchFamily="34" charset="0"/>
                <a:cs typeface="Arial" panose="020B0604020202020204" pitchFamily="34" charset="0"/>
              </a:rPr>
              <a:t>Base de donnée</a:t>
            </a:r>
          </a:p>
          <a:p>
            <a:r>
              <a:rPr lang="fr-FR" dirty="0">
                <a:latin typeface="Arial" panose="020B0604020202020204" pitchFamily="34" charset="0"/>
                <a:cs typeface="Arial" panose="020B0604020202020204" pitchFamily="34" charset="0"/>
              </a:rPr>
              <a:t>La base de données de l'agence immobilière repose sur 5 tables interconnectées qui assurent une gestion fluide du système :</a:t>
            </a:r>
          </a:p>
          <a:p>
            <a:r>
              <a:rPr lang="fr-FR" dirty="0">
                <a:latin typeface="Arial" panose="020B0604020202020204" pitchFamily="34" charset="0"/>
                <a:cs typeface="Arial" panose="020B0604020202020204" pitchFamily="34" charset="0"/>
              </a:rPr>
              <a:t>1. </a:t>
            </a:r>
            <a:r>
              <a:rPr lang="fr-FR" dirty="0" err="1">
                <a:latin typeface="Arial" panose="020B0604020202020204" pitchFamily="34" charset="0"/>
                <a:cs typeface="Arial" panose="020B0604020202020204" pitchFamily="34" charset="0"/>
              </a:rPr>
              <a:t>users</a:t>
            </a:r>
            <a:r>
              <a:rPr lang="fr-FR" dirty="0">
                <a:latin typeface="Arial" panose="020B0604020202020204" pitchFamily="34" charset="0"/>
                <a:cs typeface="Arial" panose="020B0604020202020204" pitchFamily="34" charset="0"/>
              </a:rPr>
              <a:t> : Stocke tous les comptes utilisateurs (clients, bailleurs, agents, managers) avec leurs informations personnelles, leurs rôles et leurs relations (affectation d'un agent à un client).</a:t>
            </a:r>
          </a:p>
          <a:p>
            <a:r>
              <a:rPr lang="fr-FR" dirty="0">
                <a:latin typeface="Arial" panose="020B0604020202020204" pitchFamily="34" charset="0"/>
                <a:cs typeface="Arial" panose="020B0604020202020204" pitchFamily="34" charset="0"/>
              </a:rPr>
              <a:t>2. annonces : Centralise les annonces immobilières publiées par les bailleurs, avec leurs caractéristiques (type, prix, surface, localisation) et leur statut de publication (en attente, publiée, retirée).</a:t>
            </a:r>
          </a:p>
          <a:p>
            <a:r>
              <a:rPr lang="fr-FR" dirty="0">
                <a:latin typeface="Arial" panose="020B0604020202020204" pitchFamily="34" charset="0"/>
                <a:cs typeface="Arial" panose="020B0604020202020204" pitchFamily="34" charset="0"/>
              </a:rPr>
              <a:t>3. </a:t>
            </a:r>
            <a:r>
              <a:rPr lang="fr-FR" dirty="0" err="1">
                <a:latin typeface="Arial" panose="020B0604020202020204" pitchFamily="34" charset="0"/>
                <a:cs typeface="Arial" panose="020B0604020202020204" pitchFamily="34" charset="0"/>
              </a:rPr>
              <a:t>photos_annonce</a:t>
            </a:r>
            <a:r>
              <a:rPr lang="fr-FR" dirty="0">
                <a:latin typeface="Arial" panose="020B0604020202020204" pitchFamily="34" charset="0"/>
                <a:cs typeface="Arial" panose="020B0604020202020204" pitchFamily="34" charset="0"/>
              </a:rPr>
              <a:t> : Gère les images associées aux annonces, avec la possibilité de définir une photo principale et d'organiser l'ordre d'affichage.</a:t>
            </a:r>
          </a:p>
          <a:p>
            <a:r>
              <a:rPr lang="fr-FR" dirty="0">
                <a:latin typeface="Arial" panose="020B0604020202020204" pitchFamily="34" charset="0"/>
                <a:cs typeface="Arial" panose="020B0604020202020204" pitchFamily="34" charset="0"/>
              </a:rPr>
              <a:t>4. favoris : Permet aux clients de sauvegarder leurs annonces préférées, créant ainsi une liste personnalisée.</a:t>
            </a:r>
          </a:p>
          <a:p>
            <a:r>
              <a:rPr lang="fr-FR" dirty="0">
                <a:latin typeface="Arial" panose="020B0604020202020204" pitchFamily="34" charset="0"/>
                <a:cs typeface="Arial" panose="020B0604020202020204" pitchFamily="34" charset="0"/>
              </a:rPr>
              <a:t>5. </a:t>
            </a:r>
            <a:r>
              <a:rPr lang="fr-FR" dirty="0" err="1">
                <a:latin typeface="Arial" panose="020B0604020202020204" pitchFamily="34" charset="0"/>
                <a:cs typeface="Arial" panose="020B0604020202020204" pitchFamily="34" charset="0"/>
              </a:rPr>
              <a:t>demandes_visite</a:t>
            </a:r>
            <a:r>
              <a:rPr lang="fr-FR" dirty="0">
                <a:latin typeface="Arial" panose="020B0604020202020204" pitchFamily="34" charset="0"/>
                <a:cs typeface="Arial" panose="020B0604020202020204" pitchFamily="34" charset="0"/>
              </a:rPr>
              <a:t> : Gère les demandes de visite effectuées par les clients, avec suivi du statut (en attente, validée, refusée) et des dates souhaitées.</a:t>
            </a:r>
            <a:endParaRPr lang="fr-BF" dirty="0">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2DCC371F-B060-54AF-A4C5-0403C13974D3}"/>
              </a:ext>
            </a:extLst>
          </p:cNvPr>
          <p:cNvSpPr>
            <a:spLocks noGrp="1"/>
          </p:cNvSpPr>
          <p:nvPr>
            <p:ph type="sldNum" sz="quarter" idx="12"/>
          </p:nvPr>
        </p:nvSpPr>
        <p:spPr/>
        <p:txBody>
          <a:bodyPr/>
          <a:lstStyle/>
          <a:p>
            <a:fld id="{10AFB43F-0EC2-4BCC-B446-0128A0EBB831}" type="slidenum">
              <a:rPr lang="fr-BF" smtClean="0"/>
              <a:t>10</a:t>
            </a:fld>
            <a:endParaRPr lang="fr-BF"/>
          </a:p>
        </p:txBody>
      </p:sp>
    </p:spTree>
    <p:extLst>
      <p:ext uri="{BB962C8B-B14F-4D97-AF65-F5344CB8AC3E}">
        <p14:creationId xmlns:p14="http://schemas.microsoft.com/office/powerpoint/2010/main" val="246462432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F6FEDC-E863-71A9-0838-8F1CC8B19037}"/>
              </a:ext>
            </a:extLst>
          </p:cNvPr>
          <p:cNvSpPr>
            <a:spLocks noGrp="1"/>
          </p:cNvSpPr>
          <p:nvPr>
            <p:ph type="title"/>
          </p:nvPr>
        </p:nvSpPr>
        <p:spPr>
          <a:xfrm>
            <a:off x="1681876" y="2738718"/>
            <a:ext cx="9404723" cy="2818802"/>
          </a:xfrm>
        </p:spPr>
        <p:txBody>
          <a:bodyPr/>
          <a:lstStyle/>
          <a:p>
            <a:r>
              <a:rPr lang="fr-FR" dirty="0">
                <a:latin typeface="Arial Black" panose="020B0A04020102020204" pitchFamily="34" charset="0"/>
              </a:rPr>
              <a:t>V.3-PRESENTATION DU SITE</a:t>
            </a:r>
            <a:endParaRPr lang="fr-BF" dirty="0">
              <a:latin typeface="Arial Black" panose="020B0A04020102020204" pitchFamily="34" charset="0"/>
            </a:endParaRPr>
          </a:p>
        </p:txBody>
      </p:sp>
      <p:sp>
        <p:nvSpPr>
          <p:cNvPr id="3" name="Espace réservé du contenu 2">
            <a:extLst>
              <a:ext uri="{FF2B5EF4-FFF2-40B4-BE49-F238E27FC236}">
                <a16:creationId xmlns:a16="http://schemas.microsoft.com/office/drawing/2014/main" id="{27BC37ED-05B9-C0D0-2412-64476E1B8543}"/>
              </a:ext>
            </a:extLst>
          </p:cNvPr>
          <p:cNvSpPr>
            <a:spLocks noGrp="1"/>
          </p:cNvSpPr>
          <p:nvPr>
            <p:ph idx="1"/>
          </p:nvPr>
        </p:nvSpPr>
        <p:spPr>
          <a:xfrm>
            <a:off x="1910966" y="6024880"/>
            <a:ext cx="8946541" cy="264159"/>
          </a:xfrm>
        </p:spPr>
        <p:txBody>
          <a:bodyPr>
            <a:normAutofit fontScale="70000" lnSpcReduction="20000"/>
          </a:bodyPr>
          <a:lstStyle/>
          <a:p>
            <a:endParaRPr lang="fr-BF" dirty="0"/>
          </a:p>
        </p:txBody>
      </p:sp>
      <p:sp>
        <p:nvSpPr>
          <p:cNvPr id="4" name="Espace réservé du numéro de diapositive 3">
            <a:extLst>
              <a:ext uri="{FF2B5EF4-FFF2-40B4-BE49-F238E27FC236}">
                <a16:creationId xmlns:a16="http://schemas.microsoft.com/office/drawing/2014/main" id="{5F902E83-55B2-129B-A0D3-5FD6A9753D08}"/>
              </a:ext>
            </a:extLst>
          </p:cNvPr>
          <p:cNvSpPr>
            <a:spLocks noGrp="1"/>
          </p:cNvSpPr>
          <p:nvPr>
            <p:ph type="sldNum" sz="quarter" idx="12"/>
          </p:nvPr>
        </p:nvSpPr>
        <p:spPr/>
        <p:txBody>
          <a:bodyPr/>
          <a:lstStyle/>
          <a:p>
            <a:fld id="{10AFB43F-0EC2-4BCC-B446-0128A0EBB831}" type="slidenum">
              <a:rPr lang="fr-BF" smtClean="0"/>
              <a:t>11</a:t>
            </a:fld>
            <a:endParaRPr lang="fr-BF"/>
          </a:p>
        </p:txBody>
      </p:sp>
    </p:spTree>
    <p:extLst>
      <p:ext uri="{BB962C8B-B14F-4D97-AF65-F5344CB8AC3E}">
        <p14:creationId xmlns:p14="http://schemas.microsoft.com/office/powerpoint/2010/main" val="65359973"/>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E18100-B306-2F10-7393-AD5AA2207022}"/>
              </a:ext>
            </a:extLst>
          </p:cNvPr>
          <p:cNvSpPr>
            <a:spLocks noGrp="1"/>
          </p:cNvSpPr>
          <p:nvPr>
            <p:ph type="title"/>
          </p:nvPr>
        </p:nvSpPr>
        <p:spPr>
          <a:xfrm>
            <a:off x="3254215" y="513678"/>
            <a:ext cx="5683569" cy="685202"/>
          </a:xfrm>
        </p:spPr>
        <p:txBody>
          <a:bodyPr/>
          <a:lstStyle/>
          <a:p>
            <a:pPr algn="ctr"/>
            <a:r>
              <a:rPr lang="fr-FR" u="sng" dirty="0">
                <a:solidFill>
                  <a:schemeClr val="accent5">
                    <a:lumMod val="40000"/>
                    <a:lumOff val="60000"/>
                  </a:schemeClr>
                </a:solidFill>
                <a:latin typeface="Algerian" panose="04020705040A02060702" pitchFamily="82" charset="0"/>
              </a:rPr>
              <a:t>CONCLUSION</a:t>
            </a:r>
            <a:endParaRPr lang="fr-BF" u="sng" dirty="0">
              <a:solidFill>
                <a:schemeClr val="accent5">
                  <a:lumMod val="40000"/>
                  <a:lumOff val="60000"/>
                </a:schemeClr>
              </a:solidFill>
              <a:latin typeface="Algerian" panose="04020705040A02060702" pitchFamily="82" charset="0"/>
            </a:endParaRPr>
          </a:p>
        </p:txBody>
      </p:sp>
      <p:sp>
        <p:nvSpPr>
          <p:cNvPr id="3" name="Espace réservé du contenu 2">
            <a:extLst>
              <a:ext uri="{FF2B5EF4-FFF2-40B4-BE49-F238E27FC236}">
                <a16:creationId xmlns:a16="http://schemas.microsoft.com/office/drawing/2014/main" id="{BB43E832-CCF0-05EE-62EF-86BC17331E82}"/>
              </a:ext>
            </a:extLst>
          </p:cNvPr>
          <p:cNvSpPr>
            <a:spLocks noGrp="1"/>
          </p:cNvSpPr>
          <p:nvPr>
            <p:ph idx="1"/>
          </p:nvPr>
        </p:nvSpPr>
        <p:spPr>
          <a:xfrm>
            <a:off x="1885361" y="1738968"/>
            <a:ext cx="7632045" cy="4756099"/>
          </a:xfrm>
          <a:solidFill>
            <a:schemeClr val="accent5">
              <a:lumMod val="50000"/>
            </a:schemeClr>
          </a:solidFill>
          <a:ln>
            <a:solidFill>
              <a:schemeClr val="accent1"/>
            </a:solidFill>
          </a:ln>
        </p:spPr>
        <p:txBody>
          <a:bodyPr>
            <a:noAutofit/>
          </a:bodyPr>
          <a:lstStyle/>
          <a:p>
            <a:r>
              <a:rPr lang="fr-FR" sz="1600" dirty="0">
                <a:latin typeface="Arial Rounded MT Bold" panose="020F0704030504030204" pitchFamily="34" charset="0"/>
              </a:rPr>
              <a:t>Ce projet intégrateur nous a permis de concevoir et de développer une plateforme web complète de gestion immobilière, répondant aux besoins des agents immobiliers burkinabè. Tout au long du projet, nous avons appliqué une démarche orientée objet rigoureuse, depuis la modélisation UML jusqu'à l'implémentation en PHP suivant l'architecture MVC.</a:t>
            </a:r>
          </a:p>
          <a:p>
            <a:r>
              <a:rPr lang="fr-FR" sz="1600" dirty="0">
                <a:latin typeface="Arial Rounded MT Bold" panose="020F0704030504030204" pitchFamily="34" charset="0"/>
              </a:rPr>
              <a:t>Le système livré prend en charge les quatre types d'acteurs définis (Visiteur, Client, Bailleur, Employé) et couvre l'ensemble des fonctionnalités prioritaires : publication et recherche d'annonces, demandes de visite, validation par les agents, gestion centralisée par le Manager et tableau de bord statistique. Les bonnes pratiques de sécurité </a:t>
            </a:r>
          </a:p>
          <a:p>
            <a:r>
              <a:rPr lang="fr-FR" sz="1600" dirty="0">
                <a:latin typeface="Arial Rounded MT Bold" panose="020F0704030504030204" pitchFamily="34" charset="0"/>
              </a:rPr>
              <a:t>Ce projet nous a offert une expérience pratique précieuse du développement web en équipe, en nous confrontant aux défis réels de la conception logicielle, de la gestion de projet agile et de la sécurisation des applications.</a:t>
            </a:r>
          </a:p>
          <a:p>
            <a:endParaRPr lang="fr-BF" sz="2400" dirty="0"/>
          </a:p>
        </p:txBody>
      </p:sp>
      <p:sp>
        <p:nvSpPr>
          <p:cNvPr id="4" name="Espace réservé du numéro de diapositive 3">
            <a:extLst>
              <a:ext uri="{FF2B5EF4-FFF2-40B4-BE49-F238E27FC236}">
                <a16:creationId xmlns:a16="http://schemas.microsoft.com/office/drawing/2014/main" id="{BF00ED70-F36C-7C82-FD97-2B992AA26A96}"/>
              </a:ext>
            </a:extLst>
          </p:cNvPr>
          <p:cNvSpPr>
            <a:spLocks noGrp="1"/>
          </p:cNvSpPr>
          <p:nvPr>
            <p:ph type="sldNum" sz="quarter" idx="12"/>
          </p:nvPr>
        </p:nvSpPr>
        <p:spPr/>
        <p:txBody>
          <a:bodyPr/>
          <a:lstStyle/>
          <a:p>
            <a:fld id="{10AFB43F-0EC2-4BCC-B446-0128A0EBB831}" type="slidenum">
              <a:rPr lang="fr-BF" smtClean="0"/>
              <a:t>12</a:t>
            </a:fld>
            <a:endParaRPr lang="fr-BF"/>
          </a:p>
        </p:txBody>
      </p:sp>
    </p:spTree>
    <p:extLst>
      <p:ext uri="{BB962C8B-B14F-4D97-AF65-F5344CB8AC3E}">
        <p14:creationId xmlns:p14="http://schemas.microsoft.com/office/powerpoint/2010/main" val="196437481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613FB572-92F3-3370-893B-7A3ED9E2BF2A}"/>
              </a:ext>
            </a:extLst>
          </p:cNvPr>
          <p:cNvPicPr>
            <a:picLocks noGrp="1" noChangeAspect="1"/>
          </p:cNvPicPr>
          <p:nvPr>
            <p:ph idx="1"/>
          </p:nvPr>
        </p:nvPicPr>
        <p:blipFill>
          <a:blip r:embed="rId2">
            <a:duotone>
              <a:prstClr val="black"/>
              <a:schemeClr val="accent4">
                <a:tint val="45000"/>
                <a:satMod val="400000"/>
              </a:schemeClr>
            </a:duotone>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0" y="1"/>
            <a:ext cx="12191999" cy="6990080"/>
          </a:xfrm>
          <a:solidFill>
            <a:schemeClr val="bg2"/>
          </a:solidFill>
          <a:effectLst>
            <a:glow rad="127000">
              <a:schemeClr val="bg2"/>
            </a:glow>
          </a:effectLst>
        </p:spPr>
      </p:pic>
      <p:sp>
        <p:nvSpPr>
          <p:cNvPr id="2" name="Titre 1">
            <a:extLst>
              <a:ext uri="{FF2B5EF4-FFF2-40B4-BE49-F238E27FC236}">
                <a16:creationId xmlns:a16="http://schemas.microsoft.com/office/drawing/2014/main" id="{7DA6522D-1925-F631-4835-258AF83B4C4E}"/>
              </a:ext>
            </a:extLst>
          </p:cNvPr>
          <p:cNvSpPr>
            <a:spLocks noGrp="1"/>
          </p:cNvSpPr>
          <p:nvPr>
            <p:ph type="title"/>
          </p:nvPr>
        </p:nvSpPr>
        <p:spPr>
          <a:xfrm>
            <a:off x="3541711" y="2290322"/>
            <a:ext cx="5287329" cy="1400530"/>
          </a:xfrm>
        </p:spPr>
        <p:txBody>
          <a:bodyPr/>
          <a:lstStyle/>
          <a:p>
            <a:pPr algn="ctr"/>
            <a:r>
              <a:rPr lang="fr-FR" dirty="0">
                <a:solidFill>
                  <a:schemeClr val="accent1"/>
                </a:solidFill>
                <a:latin typeface="Arial Black" panose="020B0A04020102020204" pitchFamily="34" charset="0"/>
              </a:rPr>
              <a:t>Merci pour votre </a:t>
            </a:r>
            <a:br>
              <a:rPr lang="fr-FR" dirty="0">
                <a:solidFill>
                  <a:schemeClr val="accent1"/>
                </a:solidFill>
                <a:latin typeface="Arial Black" panose="020B0A04020102020204" pitchFamily="34" charset="0"/>
              </a:rPr>
            </a:br>
            <a:br>
              <a:rPr lang="fr-FR" dirty="0">
                <a:solidFill>
                  <a:schemeClr val="accent1"/>
                </a:solidFill>
                <a:latin typeface="Arial Black" panose="020B0A04020102020204" pitchFamily="34" charset="0"/>
              </a:rPr>
            </a:br>
            <a:r>
              <a:rPr lang="fr-FR" dirty="0">
                <a:solidFill>
                  <a:schemeClr val="accent1"/>
                </a:solidFill>
                <a:latin typeface="Arial Black" panose="020B0A04020102020204" pitchFamily="34" charset="0"/>
              </a:rPr>
              <a:t>attention</a:t>
            </a:r>
            <a:endParaRPr lang="fr-BF" dirty="0">
              <a:solidFill>
                <a:schemeClr val="accent1"/>
              </a:solidFill>
              <a:latin typeface="Arial Black" panose="020B0A04020102020204" pitchFamily="34" charset="0"/>
            </a:endParaRPr>
          </a:p>
        </p:txBody>
      </p:sp>
      <p:sp>
        <p:nvSpPr>
          <p:cNvPr id="4" name="Espace réservé du numéro de diapositive 3">
            <a:extLst>
              <a:ext uri="{FF2B5EF4-FFF2-40B4-BE49-F238E27FC236}">
                <a16:creationId xmlns:a16="http://schemas.microsoft.com/office/drawing/2014/main" id="{9A7C528C-9CBD-A34C-64C4-891050554F7B}"/>
              </a:ext>
            </a:extLst>
          </p:cNvPr>
          <p:cNvSpPr>
            <a:spLocks noGrp="1"/>
          </p:cNvSpPr>
          <p:nvPr>
            <p:ph type="sldNum" sz="quarter" idx="12"/>
          </p:nvPr>
        </p:nvSpPr>
        <p:spPr/>
        <p:txBody>
          <a:bodyPr/>
          <a:lstStyle/>
          <a:p>
            <a:fld id="{10AFB43F-0EC2-4BCC-B446-0128A0EBB831}" type="slidenum">
              <a:rPr lang="fr-BF" smtClean="0"/>
              <a:t>13</a:t>
            </a:fld>
            <a:endParaRPr lang="fr-BF"/>
          </a:p>
        </p:txBody>
      </p:sp>
      <p:cxnSp>
        <p:nvCxnSpPr>
          <p:cNvPr id="8" name="Connecteur droit 7">
            <a:extLst>
              <a:ext uri="{FF2B5EF4-FFF2-40B4-BE49-F238E27FC236}">
                <a16:creationId xmlns:a16="http://schemas.microsoft.com/office/drawing/2014/main" id="{345AB510-61B1-703F-950B-217B568F4813}"/>
              </a:ext>
            </a:extLst>
          </p:cNvPr>
          <p:cNvCxnSpPr/>
          <p:nvPr/>
        </p:nvCxnSpPr>
        <p:spPr>
          <a:xfrm>
            <a:off x="4432775" y="3264907"/>
            <a:ext cx="3667760" cy="0"/>
          </a:xfrm>
          <a:prstGeom prst="line">
            <a:avLst/>
          </a:prstGeom>
          <a:ln w="571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0043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Thème Offic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1798</TotalTime>
  <Words>781</Words>
  <Application>Microsoft Office PowerPoint</Application>
  <PresentationFormat>Grand écran</PresentationFormat>
  <Paragraphs>85</Paragraphs>
  <Slides>13</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13</vt:i4>
      </vt:variant>
    </vt:vector>
  </HeadingPairs>
  <TitlesOfParts>
    <vt:vector size="23" baseType="lpstr">
      <vt:lpstr>Algerian</vt:lpstr>
      <vt:lpstr>Arial</vt:lpstr>
      <vt:lpstr>Arial Black</vt:lpstr>
      <vt:lpstr>Arial Narrow</vt:lpstr>
      <vt:lpstr>Arial Rounded MT Bold</vt:lpstr>
      <vt:lpstr>Calibri</vt:lpstr>
      <vt:lpstr>Century Gothic</vt:lpstr>
      <vt:lpstr>Wingdings</vt:lpstr>
      <vt:lpstr>Wingdings 3</vt:lpstr>
      <vt:lpstr>Ion</vt:lpstr>
      <vt:lpstr>PROJET INTEGRATEUR L2 2026  </vt:lpstr>
      <vt:lpstr>Membres du groupe</vt:lpstr>
      <vt:lpstr>TABLE DES MATIERES</vt:lpstr>
      <vt:lpstr>Introduction</vt:lpstr>
      <vt:lpstr> </vt:lpstr>
      <vt:lpstr>II-Acteurs principaux   </vt:lpstr>
      <vt:lpstr>IV- Les différents diagrammes  1-Diagramme de cas d’utilisation</vt:lpstr>
      <vt:lpstr>2-Diagramme de classe</vt:lpstr>
      <vt:lpstr>V-REALISATION DU SITE</vt:lpstr>
      <vt:lpstr>V-REALISATION DU SITE</vt:lpstr>
      <vt:lpstr>V.3-PRESENTATION DU SITE</vt:lpstr>
      <vt:lpstr>CONCLUSION</vt:lpstr>
      <vt:lpstr>Merci pour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ELITEBOOK 850 G5</dc:creator>
  <cp:lastModifiedBy>HP ELITEBOOK 850 G5</cp:lastModifiedBy>
  <cp:revision>10</cp:revision>
  <dcterms:created xsi:type="dcterms:W3CDTF">2026-06-23T16:52:53Z</dcterms:created>
  <dcterms:modified xsi:type="dcterms:W3CDTF">2026-06-26T13:50:49Z</dcterms:modified>
</cp:coreProperties>
</file>